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4_536BA3D7.xml" ContentType="application/vnd.ms-powerpoint.comments+xml"/>
  <Override PartName="/ppt/comments/modernComment_11D_327F66E5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71" r:id="rId12"/>
    <p:sldId id="269" r:id="rId13"/>
    <p:sldId id="270" r:id="rId14"/>
    <p:sldId id="264" r:id="rId15"/>
    <p:sldId id="265" r:id="rId16"/>
    <p:sldId id="280" r:id="rId17"/>
    <p:sldId id="282" r:id="rId18"/>
    <p:sldId id="283" r:id="rId19"/>
    <p:sldId id="284" r:id="rId20"/>
    <p:sldId id="285" r:id="rId21"/>
    <p:sldId id="286" r:id="rId22"/>
    <p:sldId id="272" r:id="rId23"/>
    <p:sldId id="274" r:id="rId24"/>
    <p:sldId id="275" r:id="rId25"/>
    <p:sldId id="276" r:id="rId26"/>
    <p:sldId id="277" r:id="rId27"/>
    <p:sldId id="278" r:id="rId28"/>
    <p:sldId id="279" r:id="rId29"/>
    <p:sldId id="273" r:id="rId30"/>
    <p:sldId id="288" r:id="rId31"/>
    <p:sldId id="287" r:id="rId32"/>
    <p:sldId id="28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D9DFF80-2D39-21FA-7BE2-2F3460735854}" name="Klipper, Nichole (UMKC-Student)" initials="KN" userId="S::nhl9q7@umsystem.edu::442cb208-768f-45dc-871d-2c81c12d82a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E7F5"/>
    <a:srgbClr val="FF0000"/>
    <a:srgbClr val="78FF78"/>
    <a:srgbClr val="FFAE00"/>
    <a:srgbClr val="FF7700"/>
    <a:srgbClr val="F3BF85"/>
    <a:srgbClr val="7993FF"/>
    <a:srgbClr val="E87FF9"/>
    <a:srgbClr val="047294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50C825-F1B4-A8A9-C6F7-0E50EB84BB7C}" v="204" dt="2026-05-12T14:17:42.735"/>
    <p1510:client id="{1DEDC6BE-4B40-4D41-6B31-DEBBC0E96224}" v="1477" dt="2026-05-13T17:01:02.881"/>
    <p1510:client id="{2041E63F-A1E7-4791-869A-B06F88F63763}" v="1207" dt="2026-05-13T08:37:05.560"/>
    <p1510:client id="{23A18CC3-72A3-9D9E-9B5E-7231CB78CC7F}" v="171" dt="2026-05-12T06:17:52.230"/>
    <p1510:client id="{3BA0EA2E-EFEC-0B7B-4BA6-6474B7852219}" v="1" dt="2026-05-12T14:18:00.925"/>
    <p1510:client id="{3EC62272-E37C-327C-B20E-D0FD59548EAB}" v="294" dt="2026-05-12T14:56:28.033"/>
    <p1510:client id="{6BA39603-D2D8-88D1-BC0E-49869DCA7E4E}" v="1628" dt="2026-05-12T16:54:50.078"/>
    <p1510:client id="{774BC75F-CCA0-4738-9C6D-9C37355323D6}" v="987" dt="2026-05-12T04:38:38.906"/>
    <p1510:client id="{B20A1863-6EC0-3A15-1DAB-D3B13A79FA9B}" v="443" dt="2026-05-13T17:59:17.677"/>
    <p1510:client id="{F9E181BD-0659-C9C0-BA73-D2834A585AED}" v="105" dt="2026-05-13T17:55:40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omments/modernComment_11D_327F66E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468C942-FB5B-4259-BA35-41E344337258}" authorId="{BD9DFF80-2D39-21FA-7BE2-2F3460735854}" created="2026-05-13T08:17:57.519">
    <pc:sldMkLst xmlns:pc="http://schemas.microsoft.com/office/powerpoint/2013/main/command">
      <pc:docMk/>
      <pc:sldMk cId="847210213" sldId="285"/>
    </pc:sldMkLst>
    <p188:txBody>
      <a:bodyPr/>
      <a:lstStyle/>
      <a:p>
        <a:r>
          <a:rPr lang="en-US"/>
          <a:t>The other prompt he sent just said 2nd order RC (not required to be active) which is much simpler, so I chose to implement it instead</a:t>
        </a:r>
      </a:p>
    </p188:txBody>
  </p188:cm>
</p188:cmLst>
</file>

<file path=ppt/comments/modernComment_104_536BA3D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5B0C7FE-BE4D-416F-8CCE-9A5F5B5457D9}" authorId="{BD9DFF80-2D39-21FA-7BE2-2F3460735854}" created="2026-05-13T16:49:08.576">
    <pc:sldMkLst xmlns:pc="http://schemas.microsoft.com/office/powerpoint/2013/main/command">
      <pc:docMk/>
      <pc:sldMk cId="1399563223" sldId="260"/>
    </pc:sldMkLst>
    <p188:txBody>
      <a:bodyPr/>
      <a:lstStyle/>
      <a:p>
        <a:r>
          <a:rPr lang="en-US"/>
          <a:t>coupling capacitors are  useful as they can transform the input impedance (50 ohm from the antenna) to the transitor input impedance of the transitor (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51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97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4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687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16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87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59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11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546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4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4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4_536BA3D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7.png"/><Relationship Id="rId7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1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1D_327F66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e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7A021B-9BC9-DEFA-E296-C29B873869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6938"/>
            <a:ext cx="9144000" cy="5412047"/>
          </a:xfrm>
        </p:spPr>
        <p:txBody>
          <a:bodyPr>
            <a:normAutofit/>
          </a:bodyPr>
          <a:lstStyle/>
          <a:p>
            <a:r>
              <a:rPr lang="en-US"/>
              <a:t>Bluetooth Low Energy (BLE) Receiver Front End Design</a:t>
            </a:r>
            <a:br>
              <a:rPr lang="en-US"/>
            </a:br>
            <a:br>
              <a:rPr lang="en-US"/>
            </a:br>
            <a:r>
              <a:rPr lang="en-US" sz="2400" b="1"/>
              <a:t>Presented By</a:t>
            </a:r>
            <a:br>
              <a:rPr lang="en-US" sz="3200"/>
            </a:br>
            <a:r>
              <a:rPr lang="en-US" sz="2000" b="0">
                <a:solidFill>
                  <a:srgbClr val="242424"/>
                </a:solidFill>
                <a:highlight>
                  <a:srgbClr val="FFFFFF"/>
                </a:highlight>
                <a:ea typeface="+mj-lt"/>
                <a:cs typeface="+mj-lt"/>
              </a:rPr>
              <a:t>Nichole Klipper</a:t>
            </a:r>
            <a:br>
              <a:rPr lang="en-US" sz="2000" b="0">
                <a:highlight>
                  <a:srgbClr val="FFFFFF"/>
                </a:highlight>
                <a:ea typeface="+mj-lt"/>
                <a:cs typeface="+mj-lt"/>
              </a:rPr>
            </a:br>
            <a:r>
              <a:rPr lang="en-US" sz="2000" b="0">
                <a:solidFill>
                  <a:srgbClr val="252424"/>
                </a:solidFill>
                <a:highlight>
                  <a:srgbClr val="FFFFFF"/>
                </a:highlight>
                <a:latin typeface="Segoe UI"/>
                <a:ea typeface="+mj-lt"/>
                <a:cs typeface="Segoe UI"/>
              </a:rPr>
              <a:t>Albertine Byemba-</a:t>
            </a:r>
            <a:r>
              <a:rPr lang="en-US" sz="2000" b="0" err="1">
                <a:solidFill>
                  <a:srgbClr val="252424"/>
                </a:solidFill>
                <a:highlight>
                  <a:srgbClr val="FFFFFF"/>
                </a:highlight>
                <a:latin typeface="Segoe UI"/>
                <a:ea typeface="+mj-lt"/>
                <a:cs typeface="Segoe UI"/>
              </a:rPr>
              <a:t>Kilongo</a:t>
            </a:r>
            <a:br>
              <a:rPr lang="en-US" sz="2000" b="0">
                <a:highlight>
                  <a:srgbClr val="FFFFFF"/>
                </a:highlight>
                <a:ea typeface="+mj-lt"/>
                <a:cs typeface="+mj-lt"/>
              </a:rPr>
            </a:br>
            <a:r>
              <a:rPr lang="en-US" sz="2000" b="0">
                <a:solidFill>
                  <a:srgbClr val="242424"/>
                </a:solidFill>
                <a:highlight>
                  <a:srgbClr val="FFFFFF"/>
                </a:highlight>
              </a:rPr>
              <a:t>Sai Anirudh </a:t>
            </a:r>
            <a:r>
              <a:rPr lang="en-US" sz="2000" b="0" err="1">
                <a:solidFill>
                  <a:srgbClr val="242424"/>
                </a:solidFill>
                <a:highlight>
                  <a:srgbClr val="FFFFFF"/>
                </a:highlight>
              </a:rPr>
              <a:t>Godavarthi</a:t>
            </a:r>
            <a:br>
              <a:rPr lang="en-US" sz="2000" b="0">
                <a:highlight>
                  <a:srgbClr val="FFFFFF"/>
                </a:highlight>
              </a:rPr>
            </a:br>
            <a:r>
              <a:rPr lang="en-US" sz="2000" b="0">
                <a:solidFill>
                  <a:srgbClr val="242424"/>
                </a:solidFill>
                <a:highlight>
                  <a:srgbClr val="FFFFFF"/>
                </a:highlight>
              </a:rPr>
              <a:t>Karthik </a:t>
            </a:r>
            <a:r>
              <a:rPr lang="en-US" sz="2000" b="0" err="1">
                <a:solidFill>
                  <a:srgbClr val="242424"/>
                </a:solidFill>
                <a:highlight>
                  <a:srgbClr val="FFFFFF"/>
                </a:highlight>
              </a:rPr>
              <a:t>Dorepally</a:t>
            </a:r>
            <a:br>
              <a:rPr lang="en-US" sz="2000" b="0">
                <a:highlight>
                  <a:srgbClr val="FFFFFF"/>
                </a:highlight>
              </a:rPr>
            </a:b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95214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3A48-5A42-4EC3-4CDF-7EF12ACB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Basic</a:t>
            </a:r>
            <a:r>
              <a:rPr lang="en-US"/>
              <a:t> </a:t>
            </a:r>
            <a:r>
              <a:rPr lang="en-US" b="1"/>
              <a:t>Design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52485-2913-D9AB-5CA9-F2923A4761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7971"/>
          <a:stretch>
            <a:fillRect/>
          </a:stretch>
        </p:blipFill>
        <p:spPr>
          <a:xfrm>
            <a:off x="838200" y="2271077"/>
            <a:ext cx="776473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08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25340-1002-3138-79CB-B028E4EB8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372EA6-9273-D8F9-69CA-1B29F9968C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103"/>
          <a:stretch>
            <a:fillRect/>
          </a:stretch>
        </p:blipFill>
        <p:spPr>
          <a:xfrm>
            <a:off x="580997" y="2274435"/>
            <a:ext cx="4461628" cy="2755367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06D30B02-781F-18C7-0C60-49984661EC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302" b="244"/>
          <a:stretch>
            <a:fillRect/>
          </a:stretch>
        </p:blipFill>
        <p:spPr>
          <a:xfrm>
            <a:off x="838200" y="365125"/>
            <a:ext cx="7733430" cy="1322323"/>
          </a:xfrm>
          <a:prstGeom prst="rect">
            <a:avLst/>
          </a:prstGeom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576BB96-6FFE-BBB5-F1D9-AB5EB2584D79}"/>
              </a:ext>
            </a:extLst>
          </p:cNvPr>
          <p:cNvSpPr/>
          <p:nvPr/>
        </p:nvSpPr>
        <p:spPr>
          <a:xfrm>
            <a:off x="2692958" y="1185705"/>
            <a:ext cx="763675" cy="50498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78ED5D-DF5D-E08E-1451-99865166E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633" y="3302434"/>
            <a:ext cx="3139712" cy="26367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C5DF10-16D3-0F70-F9FB-CDDCEF0AD5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1853" y="3135968"/>
            <a:ext cx="4701947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23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9A91C-D289-28C7-87D8-E998A9825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C83E-8FBF-F717-2F3B-DC61B7260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0496A9-3A00-C45C-0093-1D2A7146F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951" y="1923236"/>
            <a:ext cx="4328535" cy="39322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722F55-2193-FA6B-7A99-D3783A143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323" y="1923236"/>
            <a:ext cx="4328535" cy="363517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F768D71-8C18-2710-29F5-E07B45F8576D}"/>
              </a:ext>
            </a:extLst>
          </p:cNvPr>
          <p:cNvSpPr/>
          <p:nvPr/>
        </p:nvSpPr>
        <p:spPr>
          <a:xfrm>
            <a:off x="1861142" y="5250426"/>
            <a:ext cx="1595491" cy="421869"/>
          </a:xfrm>
          <a:prstGeom prst="rect">
            <a:avLst/>
          </a:prstGeom>
          <a:solidFill>
            <a:srgbClr val="CCFF66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0000"/>
              </a:highlight>
            </a:endParaRP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8CBD95F3-285E-F14C-E2CE-A8C7048FE0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8082" b="245"/>
          <a:stretch>
            <a:fillRect/>
          </a:stretch>
        </p:blipFill>
        <p:spPr>
          <a:xfrm>
            <a:off x="838200" y="365125"/>
            <a:ext cx="7754348" cy="1322317"/>
          </a:xfrm>
          <a:prstGeom prst="rect">
            <a:avLst/>
          </a:prstGeom>
          <a:ln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8B646D1-CCC4-D446-5500-8F89EFB72A83}"/>
              </a:ext>
            </a:extLst>
          </p:cNvPr>
          <p:cNvSpPr/>
          <p:nvPr/>
        </p:nvSpPr>
        <p:spPr>
          <a:xfrm>
            <a:off x="2692958" y="1185705"/>
            <a:ext cx="763675" cy="50498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F8501F-7708-20AB-C5C3-6BF4975DC680}"/>
              </a:ext>
            </a:extLst>
          </p:cNvPr>
          <p:cNvSpPr/>
          <p:nvPr/>
        </p:nvSpPr>
        <p:spPr>
          <a:xfrm>
            <a:off x="9419303" y="3070123"/>
            <a:ext cx="797007" cy="421869"/>
          </a:xfrm>
          <a:prstGeom prst="rect">
            <a:avLst/>
          </a:prstGeom>
          <a:solidFill>
            <a:srgbClr val="CCFF66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5071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06BC-0DB8-177D-D0A4-3610C25F4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91A80-8D2F-3B24-DCCE-34B7C188C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Add recommended coupling capacitors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AF0E237-1B9C-00A6-BC82-CE6BBCC8FE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302" b="244"/>
          <a:stretch>
            <a:fillRect/>
          </a:stretch>
        </p:blipFill>
        <p:spPr>
          <a:xfrm>
            <a:off x="838200" y="365125"/>
            <a:ext cx="7733430" cy="1322323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985E7A4-0E76-C2FE-2A2C-7860B3D6C98D}"/>
              </a:ext>
            </a:extLst>
          </p:cNvPr>
          <p:cNvSpPr/>
          <p:nvPr/>
        </p:nvSpPr>
        <p:spPr>
          <a:xfrm>
            <a:off x="2692958" y="1185705"/>
            <a:ext cx="763675" cy="50498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FDEB9E-2022-2B0F-CFF7-F8F1D59880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862"/>
          <a:stretch>
            <a:fillRect/>
          </a:stretch>
        </p:blipFill>
        <p:spPr>
          <a:xfrm>
            <a:off x="1343675" y="2472606"/>
            <a:ext cx="4828723" cy="20040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F10B493-2725-5392-EAED-9689EC50BAB8}"/>
              </a:ext>
            </a:extLst>
          </p:cNvPr>
          <p:cNvSpPr/>
          <p:nvPr/>
        </p:nvSpPr>
        <p:spPr>
          <a:xfrm>
            <a:off x="1837003" y="3727508"/>
            <a:ext cx="1918331" cy="273786"/>
          </a:xfrm>
          <a:prstGeom prst="rect">
            <a:avLst/>
          </a:prstGeom>
          <a:solidFill>
            <a:srgbClr val="CCFF66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0000"/>
              </a:highligh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CC0DCD-8F68-89FC-941E-4CD86B3CA4DB}"/>
              </a:ext>
            </a:extLst>
          </p:cNvPr>
          <p:cNvSpPr/>
          <p:nvPr/>
        </p:nvSpPr>
        <p:spPr>
          <a:xfrm>
            <a:off x="1839705" y="4085571"/>
            <a:ext cx="1918331" cy="273786"/>
          </a:xfrm>
          <a:prstGeom prst="rect">
            <a:avLst/>
          </a:prstGeom>
          <a:solidFill>
            <a:srgbClr val="CCFF66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0000"/>
              </a:highligh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056277-F0D3-319F-652D-BDCDA1DB7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050" y="2452942"/>
            <a:ext cx="4535518" cy="318860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C72A4A2-3907-B26A-DE4F-E22573DE477A}"/>
              </a:ext>
            </a:extLst>
          </p:cNvPr>
          <p:cNvSpPr/>
          <p:nvPr/>
        </p:nvSpPr>
        <p:spPr>
          <a:xfrm>
            <a:off x="6449961" y="3139542"/>
            <a:ext cx="1045068" cy="670163"/>
          </a:xfrm>
          <a:prstGeom prst="rect">
            <a:avLst/>
          </a:prstGeom>
          <a:solidFill>
            <a:srgbClr val="CCFF66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0000"/>
              </a:highligh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24D7EE-FAE1-5F52-AF33-8D58ABFE5109}"/>
              </a:ext>
            </a:extLst>
          </p:cNvPr>
          <p:cNvSpPr/>
          <p:nvPr/>
        </p:nvSpPr>
        <p:spPr>
          <a:xfrm>
            <a:off x="9238577" y="3150993"/>
            <a:ext cx="711668" cy="670163"/>
          </a:xfrm>
          <a:prstGeom prst="rect">
            <a:avLst/>
          </a:prstGeom>
          <a:solidFill>
            <a:srgbClr val="CCFF66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0000"/>
              </a:highligh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FB23B1-D926-73DE-04EA-84506D0D3A2A}"/>
              </a:ext>
            </a:extLst>
          </p:cNvPr>
          <p:cNvSpPr/>
          <p:nvPr/>
        </p:nvSpPr>
        <p:spPr>
          <a:xfrm>
            <a:off x="1594762" y="2960688"/>
            <a:ext cx="1476412" cy="315460"/>
          </a:xfrm>
          <a:prstGeom prst="rect">
            <a:avLst/>
          </a:prstGeom>
          <a:solidFill>
            <a:srgbClr val="F3BF8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632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2FECF-87DE-4014-A671-D402451C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7420E-602C-6350-CE69-86E409F1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3D2093-0FF2-0E40-E9AF-177674D0B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25996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2D552AA-039D-FD0B-1A12-B12193A2AA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082" b="244"/>
          <a:stretch>
            <a:fillRect/>
          </a:stretch>
        </p:blipFill>
        <p:spPr>
          <a:xfrm>
            <a:off x="838200" y="365125"/>
            <a:ext cx="7754301" cy="1322323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D511391-DAC1-0E44-400F-8DB422E85285}"/>
              </a:ext>
            </a:extLst>
          </p:cNvPr>
          <p:cNvSpPr/>
          <p:nvPr/>
        </p:nvSpPr>
        <p:spPr>
          <a:xfrm>
            <a:off x="3623400" y="1185705"/>
            <a:ext cx="763675" cy="50498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4EE5E4E-39AB-3C1A-3567-661FC7B2E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4086513" cy="35805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254993-36A1-ED41-2929-FD2C0FF451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18" r="40154" b="31247"/>
          <a:stretch>
            <a:fillRect/>
          </a:stretch>
        </p:blipFill>
        <p:spPr>
          <a:xfrm>
            <a:off x="2691521" y="3429001"/>
            <a:ext cx="2505512" cy="19918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8F95CC3-8FCC-4D7B-7CA3-89AC5B6FF8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5058" y="2110396"/>
            <a:ext cx="4424133" cy="291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64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A293F-F214-7D93-0CEA-3847322FC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DEACC-9F23-6DB6-AA96-CC18AFE6E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F2F15D3F-9EB9-1A05-F159-8A9B930BA9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Expected gain: 10-15 dB</a:t>
                </a:r>
              </a:p>
              <a:p>
                <a:r>
                  <a:rPr lang="en-US"/>
                  <a:t>Actual  gain: ~ 0 dB</a:t>
                </a:r>
              </a:p>
              <a:p>
                <a:r>
                  <a:rPr lang="en-US"/>
                  <a:t>Gain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endParaRPr lang="en-US"/>
              </a:p>
              <a:p>
                <a:r>
                  <a:rPr lang="en-US"/>
                  <a:t>Solution: </a:t>
                </a:r>
              </a:p>
              <a:p>
                <a:pPr lvl="1"/>
                <a:r>
                  <a:rPr lang="en-US"/>
                  <a:t>Reduce resistance at input (R1)</a:t>
                </a:r>
              </a:p>
              <a:p>
                <a:pPr lvl="2"/>
                <a:r>
                  <a:rPr lang="en-US"/>
                  <a:t>Turns on transistor</a:t>
                </a:r>
              </a:p>
              <a:p>
                <a:pPr lvl="1"/>
                <a:r>
                  <a:rPr lang="en-US"/>
                  <a:t>Replace R3 with inductor</a:t>
                </a:r>
              </a:p>
              <a:p>
                <a:pPr lvl="2"/>
                <a:r>
                  <a:rPr lang="en-US"/>
                  <a:t>Maximize load impedance</a:t>
                </a:r>
              </a:p>
            </p:txBody>
          </p:sp>
        </mc:Choice>
        <mc:Fallback xmlns="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F2F15D3F-9EB9-1A05-F159-8A9B930BA9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7572F48-AE46-2421-ADED-A5ADA6E66F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693" b="245"/>
          <a:stretch>
            <a:fillRect/>
          </a:stretch>
        </p:blipFill>
        <p:spPr>
          <a:xfrm>
            <a:off x="838200" y="365125"/>
            <a:ext cx="7696465" cy="1322317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1BEABF-A162-8B2F-B776-D84262356FD6}"/>
              </a:ext>
            </a:extLst>
          </p:cNvPr>
          <p:cNvSpPr/>
          <p:nvPr/>
        </p:nvSpPr>
        <p:spPr>
          <a:xfrm>
            <a:off x="3623400" y="1185705"/>
            <a:ext cx="763675" cy="50498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53C4D85-80C7-5136-2889-01BBADFDA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450" y="1866243"/>
            <a:ext cx="2668410" cy="179352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946B296-920E-0C98-C196-35B9C90AC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4601" y="3700384"/>
            <a:ext cx="3158942" cy="212497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28" name="Frame 27">
            <a:extLst>
              <a:ext uri="{FF2B5EF4-FFF2-40B4-BE49-F238E27FC236}">
                <a16:creationId xmlns:a16="http://schemas.microsoft.com/office/drawing/2014/main" id="{C1DCCE73-C1EC-F09E-AE96-649FA36061EE}"/>
              </a:ext>
            </a:extLst>
          </p:cNvPr>
          <p:cNvSpPr/>
          <p:nvPr/>
        </p:nvSpPr>
        <p:spPr>
          <a:xfrm>
            <a:off x="8526780" y="2783840"/>
            <a:ext cx="197821" cy="142240"/>
          </a:xfrm>
          <a:prstGeom prst="frame">
            <a:avLst>
              <a:gd name="adj1" fmla="val 535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3408355-8198-5731-C377-172315082870}"/>
              </a:ext>
            </a:extLst>
          </p:cNvPr>
          <p:cNvCxnSpPr>
            <a:cxnSpLocks/>
            <a:stCxn id="28" idx="1"/>
          </p:cNvCxnSpPr>
          <p:nvPr/>
        </p:nvCxnSpPr>
        <p:spPr>
          <a:xfrm>
            <a:off x="8526780" y="2854960"/>
            <a:ext cx="197821" cy="8048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FA60A9B-2A56-76B4-8876-82D8655F3C26}"/>
              </a:ext>
            </a:extLst>
          </p:cNvPr>
          <p:cNvCxnSpPr>
            <a:cxnSpLocks/>
          </p:cNvCxnSpPr>
          <p:nvPr/>
        </p:nvCxnSpPr>
        <p:spPr>
          <a:xfrm>
            <a:off x="8724601" y="2783840"/>
            <a:ext cx="3158942" cy="8759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416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9B69A-DB3C-DC9C-CC0A-22D03E3D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60D5-6F1F-A729-B740-F9E276B19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77C9DD-840B-736A-1E00-F9B6EF7FBC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2155"/>
          <a:stretch>
            <a:fillRect/>
          </a:stretch>
        </p:blipFill>
        <p:spPr>
          <a:xfrm>
            <a:off x="1014045" y="2258143"/>
            <a:ext cx="4364198" cy="2341713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71F1561-844C-64FD-80EA-8E24F5BB8D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971" b="245"/>
          <a:stretch>
            <a:fillRect/>
          </a:stretch>
        </p:blipFill>
        <p:spPr>
          <a:xfrm>
            <a:off x="838200" y="365125"/>
            <a:ext cx="7764780" cy="1322317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7D852EA-73DF-3DC7-8862-10ADF9E6BA87}"/>
              </a:ext>
            </a:extLst>
          </p:cNvPr>
          <p:cNvSpPr/>
          <p:nvPr/>
        </p:nvSpPr>
        <p:spPr>
          <a:xfrm>
            <a:off x="3623400" y="1185705"/>
            <a:ext cx="763675" cy="50498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738489-40F0-C72A-53D5-86551C9730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9" t="5305" r="12314" b="12524"/>
          <a:stretch>
            <a:fillRect/>
          </a:stretch>
        </p:blipFill>
        <p:spPr>
          <a:xfrm>
            <a:off x="1104661" y="4501438"/>
            <a:ext cx="3950593" cy="2341713"/>
          </a:xfrm>
          <a:prstGeom prst="rect">
            <a:avLst/>
          </a:prstGeom>
        </p:spPr>
      </p:pic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7D1A7E73-6892-AA43-35CD-5D113F32F50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Why original circuit has 0 dB gain: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E55829-98AF-A091-B5C7-C38B6355C950}"/>
              </a:ext>
            </a:extLst>
          </p:cNvPr>
          <p:cNvSpPr/>
          <p:nvPr/>
        </p:nvSpPr>
        <p:spPr>
          <a:xfrm>
            <a:off x="3332480" y="6604000"/>
            <a:ext cx="1828800" cy="2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CF25D4-AC92-C64E-EFA5-D6CBE7FDA4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6325" y="2760946"/>
            <a:ext cx="5524915" cy="384305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E8774E3-3B85-5C6B-6F62-2F8BAF6AA030}"/>
              </a:ext>
            </a:extLst>
          </p:cNvPr>
          <p:cNvSpPr/>
          <p:nvPr/>
        </p:nvSpPr>
        <p:spPr>
          <a:xfrm>
            <a:off x="5802316" y="2626009"/>
            <a:ext cx="2325684" cy="351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706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1EDAD-44C6-106E-EB30-55B592707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1D2B8F6F-F1B5-C31E-049A-9252583CA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161" y="2762866"/>
            <a:ext cx="5486400" cy="31228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9C8F40-2944-7795-C733-E998B95A3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0DE90A2-3DF9-73C6-3DD4-67E1B297D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25996"/>
          </a:xfrm>
        </p:spPr>
        <p:txBody>
          <a:bodyPr/>
          <a:lstStyle/>
          <a:p>
            <a:r>
              <a:rPr lang="en-US"/>
              <a:t>Fixing circuit:</a:t>
            </a:r>
          </a:p>
          <a:p>
            <a:pPr lvl="1"/>
            <a:r>
              <a:rPr lang="en-US"/>
              <a:t>Reduce R1, Cin_match, Cout_match</a:t>
            </a:r>
          </a:p>
          <a:p>
            <a:pPr lvl="1"/>
            <a:r>
              <a:rPr lang="en-US"/>
              <a:t>Increase Lin, Lout</a:t>
            </a:r>
          </a:p>
          <a:p>
            <a:pPr lvl="1"/>
            <a:r>
              <a:rPr lang="en-US"/>
              <a:t>Add CE</a:t>
            </a:r>
          </a:p>
          <a:p>
            <a:pPr lvl="1"/>
            <a:r>
              <a:rPr lang="en-US"/>
              <a:t>Change RC to LC</a:t>
            </a:r>
          </a:p>
          <a:p>
            <a:endParaRPr lang="en-US" b="1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BDF9409-F1E4-50E0-A784-75B69533AC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302" b="245"/>
          <a:stretch>
            <a:fillRect/>
          </a:stretch>
        </p:blipFill>
        <p:spPr>
          <a:xfrm>
            <a:off x="838200" y="365125"/>
            <a:ext cx="7733477" cy="1322317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761ACA3-D917-8BF3-356C-A6B3D71D4471}"/>
              </a:ext>
            </a:extLst>
          </p:cNvPr>
          <p:cNvSpPr/>
          <p:nvPr/>
        </p:nvSpPr>
        <p:spPr>
          <a:xfrm>
            <a:off x="3623400" y="1185705"/>
            <a:ext cx="763675" cy="50498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4DBBDC-04B7-F4AD-FD1C-6CD0C6FAC2F7}"/>
              </a:ext>
            </a:extLst>
          </p:cNvPr>
          <p:cNvSpPr/>
          <p:nvPr/>
        </p:nvSpPr>
        <p:spPr>
          <a:xfrm>
            <a:off x="7554452" y="3108960"/>
            <a:ext cx="914400" cy="640080"/>
          </a:xfrm>
          <a:prstGeom prst="rect">
            <a:avLst/>
          </a:prstGeom>
          <a:solidFill>
            <a:srgbClr val="83E7F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4D1EF1-768E-F5CD-3173-18C945010681}"/>
              </a:ext>
            </a:extLst>
          </p:cNvPr>
          <p:cNvSpPr/>
          <p:nvPr/>
        </p:nvSpPr>
        <p:spPr>
          <a:xfrm>
            <a:off x="2708847" y="2205896"/>
            <a:ext cx="3834515" cy="450081"/>
          </a:xfrm>
          <a:prstGeom prst="rect">
            <a:avLst/>
          </a:prstGeom>
          <a:solidFill>
            <a:srgbClr val="83E7F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4EF3F4-2A3C-9B7A-8D2F-EE96D065C7B1}"/>
              </a:ext>
            </a:extLst>
          </p:cNvPr>
          <p:cNvSpPr/>
          <p:nvPr/>
        </p:nvSpPr>
        <p:spPr>
          <a:xfrm>
            <a:off x="6096000" y="3637935"/>
            <a:ext cx="737418" cy="751185"/>
          </a:xfrm>
          <a:prstGeom prst="rect">
            <a:avLst/>
          </a:prstGeom>
          <a:solidFill>
            <a:srgbClr val="83E7F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483760-D665-E639-EDF9-86F27680D1EF}"/>
              </a:ext>
            </a:extLst>
          </p:cNvPr>
          <p:cNvSpPr/>
          <p:nvPr/>
        </p:nvSpPr>
        <p:spPr>
          <a:xfrm>
            <a:off x="10763610" y="3781466"/>
            <a:ext cx="914400" cy="751185"/>
          </a:xfrm>
          <a:prstGeom prst="rect">
            <a:avLst/>
          </a:prstGeom>
          <a:solidFill>
            <a:srgbClr val="83E7F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F5B170-F1B5-DDEB-3EAB-EB70AFE9E9B5}"/>
              </a:ext>
            </a:extLst>
          </p:cNvPr>
          <p:cNvSpPr/>
          <p:nvPr/>
        </p:nvSpPr>
        <p:spPr>
          <a:xfrm>
            <a:off x="9981432" y="3762805"/>
            <a:ext cx="782178" cy="751185"/>
          </a:xfrm>
          <a:prstGeom prst="rect">
            <a:avLst/>
          </a:prstGeom>
          <a:solidFill>
            <a:srgbClr val="E87FF9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A0418A-F2ED-35AC-3C3E-2ED7B6627BBD}"/>
              </a:ext>
            </a:extLst>
          </p:cNvPr>
          <p:cNvSpPr/>
          <p:nvPr/>
        </p:nvSpPr>
        <p:spPr>
          <a:xfrm>
            <a:off x="6817034" y="4043593"/>
            <a:ext cx="737418" cy="751185"/>
          </a:xfrm>
          <a:prstGeom prst="rect">
            <a:avLst/>
          </a:prstGeom>
          <a:solidFill>
            <a:srgbClr val="E87FF9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1FAABD-3E96-9824-45E8-9839B85FD8F5}"/>
              </a:ext>
            </a:extLst>
          </p:cNvPr>
          <p:cNvSpPr/>
          <p:nvPr/>
        </p:nvSpPr>
        <p:spPr>
          <a:xfrm>
            <a:off x="2738330" y="2661296"/>
            <a:ext cx="1459269" cy="388528"/>
          </a:xfrm>
          <a:prstGeom prst="rect">
            <a:avLst/>
          </a:prstGeom>
          <a:solidFill>
            <a:srgbClr val="E87FF9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7C4599-F97F-4DD9-1817-AEC8E342565E}"/>
              </a:ext>
            </a:extLst>
          </p:cNvPr>
          <p:cNvSpPr/>
          <p:nvPr/>
        </p:nvSpPr>
        <p:spPr>
          <a:xfrm>
            <a:off x="2153019" y="3049824"/>
            <a:ext cx="549787" cy="388528"/>
          </a:xfrm>
          <a:prstGeom prst="rect">
            <a:avLst/>
          </a:prstGeom>
          <a:solidFill>
            <a:srgbClr val="7993FF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2121311-E5FB-9546-B7A8-DA052603F222}"/>
              </a:ext>
            </a:extLst>
          </p:cNvPr>
          <p:cNvSpPr/>
          <p:nvPr/>
        </p:nvSpPr>
        <p:spPr>
          <a:xfrm>
            <a:off x="10487178" y="4880721"/>
            <a:ext cx="866622" cy="576182"/>
          </a:xfrm>
          <a:prstGeom prst="rect">
            <a:avLst/>
          </a:prstGeom>
          <a:solidFill>
            <a:srgbClr val="7993FF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2FCFD2-0178-416B-4187-5D252DFCCC16}"/>
              </a:ext>
            </a:extLst>
          </p:cNvPr>
          <p:cNvSpPr/>
          <p:nvPr/>
        </p:nvSpPr>
        <p:spPr>
          <a:xfrm>
            <a:off x="2701227" y="3451291"/>
            <a:ext cx="1215453" cy="388528"/>
          </a:xfrm>
          <a:prstGeom prst="rect">
            <a:avLst/>
          </a:prstGeom>
          <a:solidFill>
            <a:srgbClr val="F3BF8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975275-EB84-BBF8-7320-C25120C5CE5B}"/>
              </a:ext>
            </a:extLst>
          </p:cNvPr>
          <p:cNvSpPr/>
          <p:nvPr/>
        </p:nvSpPr>
        <p:spPr>
          <a:xfrm>
            <a:off x="9347201" y="2980015"/>
            <a:ext cx="780025" cy="640079"/>
          </a:xfrm>
          <a:prstGeom prst="rect">
            <a:avLst/>
          </a:prstGeom>
          <a:solidFill>
            <a:srgbClr val="F3BF8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42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58CF2-0C97-0AD5-B291-ACBE66175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DC37-37A1-985D-CCBD-E7CF9D5EC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898D806-0CEF-A2BE-4B3F-23B1CF8D1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25996"/>
          </a:xfrm>
        </p:spPr>
        <p:txBody>
          <a:bodyPr/>
          <a:lstStyle/>
          <a:p>
            <a:r>
              <a:rPr lang="en-US"/>
              <a:t>Derivation of gain from new circuit parameters: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D658215-41FA-8B0B-C578-9977BBF68B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971" b="244"/>
          <a:stretch>
            <a:fillRect/>
          </a:stretch>
        </p:blipFill>
        <p:spPr>
          <a:xfrm>
            <a:off x="838200" y="365125"/>
            <a:ext cx="7764751" cy="1322323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DF2C5D3-E12E-2A1E-289B-3CA2909D3677}"/>
              </a:ext>
            </a:extLst>
          </p:cNvPr>
          <p:cNvSpPr/>
          <p:nvPr/>
        </p:nvSpPr>
        <p:spPr>
          <a:xfrm>
            <a:off x="3623400" y="1185705"/>
            <a:ext cx="763675" cy="50498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7D30FE-8164-170E-BD99-E4C284134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351" y="2250459"/>
            <a:ext cx="3595642" cy="18364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74F8E2-E2DB-41CD-0F77-8521D301DF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7383"/>
          <a:stretch>
            <a:fillRect/>
          </a:stretch>
        </p:blipFill>
        <p:spPr>
          <a:xfrm>
            <a:off x="1435764" y="4027949"/>
            <a:ext cx="3330229" cy="20586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B7DC8C-28D3-2AF8-23E6-7FCE0AFBD3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17" t="964"/>
          <a:stretch>
            <a:fillRect/>
          </a:stretch>
        </p:blipFill>
        <p:spPr>
          <a:xfrm>
            <a:off x="5363557" y="2245360"/>
            <a:ext cx="5527412" cy="28830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2BF0114-D7AB-2856-4F91-09256784410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530"/>
          <a:stretch>
            <a:fillRect/>
          </a:stretch>
        </p:blipFill>
        <p:spPr>
          <a:xfrm>
            <a:off x="1625709" y="6087574"/>
            <a:ext cx="3140284" cy="76128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A5F553-A915-05AA-C100-D5E938FC6337}"/>
              </a:ext>
            </a:extLst>
          </p:cNvPr>
          <p:cNvSpPr/>
          <p:nvPr/>
        </p:nvSpPr>
        <p:spPr>
          <a:xfrm>
            <a:off x="3022600" y="6731000"/>
            <a:ext cx="2159000" cy="111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BEDF9D-E4E6-06F5-CFC9-04CCDE8B20C5}"/>
              </a:ext>
            </a:extLst>
          </p:cNvPr>
          <p:cNvSpPr/>
          <p:nvPr/>
        </p:nvSpPr>
        <p:spPr>
          <a:xfrm>
            <a:off x="4123373" y="6716320"/>
            <a:ext cx="2159000" cy="111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8FA0BB-6C23-1EC9-464B-47A4C387B86A}"/>
              </a:ext>
            </a:extLst>
          </p:cNvPr>
          <p:cNvSpPr/>
          <p:nvPr/>
        </p:nvSpPr>
        <p:spPr>
          <a:xfrm>
            <a:off x="5444136" y="2230680"/>
            <a:ext cx="2159000" cy="111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F125F0-44FD-6DAD-A380-1100C773D109}"/>
              </a:ext>
            </a:extLst>
          </p:cNvPr>
          <p:cNvSpPr/>
          <p:nvPr/>
        </p:nvSpPr>
        <p:spPr>
          <a:xfrm>
            <a:off x="5267009" y="2293900"/>
            <a:ext cx="1596071" cy="111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862C0F6-C470-688C-76A2-4EEE328FCE7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6517"/>
          <a:stretch>
            <a:fillRect/>
          </a:stretch>
        </p:blipFill>
        <p:spPr>
          <a:xfrm>
            <a:off x="5571136" y="5176926"/>
            <a:ext cx="2888195" cy="165115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C88CEBB-14D3-1262-A96D-817B6297689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4585" t="83968"/>
          <a:stretch>
            <a:fillRect/>
          </a:stretch>
        </p:blipFill>
        <p:spPr>
          <a:xfrm>
            <a:off x="8363712" y="6402944"/>
            <a:ext cx="734045" cy="28316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4F01BF5-5A48-89F9-E9B1-8292AF533A1D}"/>
              </a:ext>
            </a:extLst>
          </p:cNvPr>
          <p:cNvSpPr/>
          <p:nvPr/>
        </p:nvSpPr>
        <p:spPr>
          <a:xfrm>
            <a:off x="7735824" y="6662928"/>
            <a:ext cx="1510692" cy="172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D9743F-18E8-438A-8471-8E45D759CF02}"/>
              </a:ext>
            </a:extLst>
          </p:cNvPr>
          <p:cNvSpPr/>
          <p:nvPr/>
        </p:nvSpPr>
        <p:spPr>
          <a:xfrm>
            <a:off x="9409776" y="5087746"/>
            <a:ext cx="1510692" cy="172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29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E194C-B5CF-98D3-256B-1A6D3BA73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 descr="A close up of a text&#10;&#10;AI-generated content may be incorrect.">
            <a:extLst>
              <a:ext uri="{FF2B5EF4-FFF2-40B4-BE49-F238E27FC236}">
                <a16:creationId xmlns:a16="http://schemas.microsoft.com/office/drawing/2014/main" id="{039C0BDC-5560-09F0-25A0-59B62BBFA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971" b="244"/>
          <a:stretch>
            <a:fillRect/>
          </a:stretch>
        </p:blipFill>
        <p:spPr>
          <a:xfrm>
            <a:off x="838200" y="365125"/>
            <a:ext cx="7764733" cy="1322323"/>
          </a:xfrm>
          <a:prstGeom prst="rect">
            <a:avLst/>
          </a:prstGeom>
          <a:ln>
            <a:noFill/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DFB4D72-0C10-34BC-94D5-E0E7EEFC0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753" y="1817349"/>
            <a:ext cx="4584506" cy="2793209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535366F-1733-79E0-1084-CCE61BBC8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25996"/>
          </a:xfrm>
        </p:spPr>
        <p:txBody>
          <a:bodyPr/>
          <a:lstStyle/>
          <a:p>
            <a:r>
              <a:rPr lang="en-US"/>
              <a:t>Expected gain: 10-15 dB</a:t>
            </a:r>
          </a:p>
          <a:p>
            <a:r>
              <a:rPr lang="en-US"/>
              <a:t>Actual  gain: </a:t>
            </a:r>
            <a:r>
              <a:rPr lang="en-US" b="1">
                <a:solidFill>
                  <a:srgbClr val="00B050"/>
                </a:solidFill>
              </a:rPr>
              <a:t>12 dB</a:t>
            </a:r>
          </a:p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5C89E5-C018-7A1B-FBDC-AB776365CBD8}"/>
              </a:ext>
            </a:extLst>
          </p:cNvPr>
          <p:cNvSpPr/>
          <p:nvPr/>
        </p:nvSpPr>
        <p:spPr>
          <a:xfrm>
            <a:off x="3623400" y="1185705"/>
            <a:ext cx="763675" cy="50498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84F65E-6108-CB11-C6DE-16F9B0A1621B}"/>
              </a:ext>
            </a:extLst>
          </p:cNvPr>
          <p:cNvSpPr txBox="1"/>
          <p:nvPr/>
        </p:nvSpPr>
        <p:spPr>
          <a:xfrm>
            <a:off x="6706473" y="3866430"/>
            <a:ext cx="1713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22 dB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7CB450-F01C-CEC5-918B-45694D7BA4F2}"/>
              </a:ext>
            </a:extLst>
          </p:cNvPr>
          <p:cNvSpPr txBox="1"/>
          <p:nvPr/>
        </p:nvSpPr>
        <p:spPr>
          <a:xfrm>
            <a:off x="6704746" y="1857659"/>
            <a:ext cx="1713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34 dB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0DCCB2-6483-F739-AF06-079CF2131EE1}"/>
              </a:ext>
            </a:extLst>
          </p:cNvPr>
          <p:cNvCxnSpPr/>
          <p:nvPr/>
        </p:nvCxnSpPr>
        <p:spPr>
          <a:xfrm>
            <a:off x="7569200" y="2011640"/>
            <a:ext cx="3251200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17CB695-86F7-77C9-5D65-5DE5D3308B5D}"/>
              </a:ext>
            </a:extLst>
          </p:cNvPr>
          <p:cNvCxnSpPr>
            <a:cxnSpLocks/>
          </p:cNvCxnSpPr>
          <p:nvPr/>
        </p:nvCxnSpPr>
        <p:spPr>
          <a:xfrm>
            <a:off x="7533883" y="4051096"/>
            <a:ext cx="241228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EBE6368F-B172-3AE8-3CB1-749B071811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6704"/>
          <a:stretch>
            <a:fillRect/>
          </a:stretch>
        </p:blipFill>
        <p:spPr>
          <a:xfrm>
            <a:off x="6645753" y="5010180"/>
            <a:ext cx="5490622" cy="102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525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E1F6A-EA6A-4ED7-EB12-482CDA639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EB808-9817-49A5-9623-1CE988A0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5D6132D-5CFC-E01F-9ABF-6A62D21195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971" b="244"/>
          <a:stretch>
            <a:fillRect/>
          </a:stretch>
        </p:blipFill>
        <p:spPr>
          <a:xfrm>
            <a:off x="838200" y="365125"/>
            <a:ext cx="7764733" cy="1322323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7B08DE-E627-58F8-F902-9FE4D1C5DDE4}"/>
              </a:ext>
            </a:extLst>
          </p:cNvPr>
          <p:cNvSpPr/>
          <p:nvPr/>
        </p:nvSpPr>
        <p:spPr>
          <a:xfrm>
            <a:off x="4558120" y="1185705"/>
            <a:ext cx="1537880" cy="50498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203687-0280-1F7A-85BE-999D13705A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23" r="63433"/>
          <a:stretch>
            <a:fillRect/>
          </a:stretch>
        </p:blipFill>
        <p:spPr>
          <a:xfrm>
            <a:off x="7601743" y="2023226"/>
            <a:ext cx="1995301" cy="4579628"/>
          </a:xfrm>
          <a:prstGeom prst="rect">
            <a:avLst/>
          </a:prstGeom>
        </p:spPr>
      </p:pic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669C9C9F-87A4-3F16-FB08-4F9E195A068E}"/>
              </a:ext>
            </a:extLst>
          </p:cNvPr>
          <p:cNvSpPr>
            <a:spLocks noGrp="1"/>
          </p:cNvSpPr>
          <p:nvPr/>
        </p:nvSpPr>
        <p:spPr>
          <a:xfrm>
            <a:off x="838200" y="2019497"/>
            <a:ext cx="10515600" cy="41259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pic>
        <p:nvPicPr>
          <p:cNvPr id="14" name="Picture 13" descr="A screenshot of a test&#10;&#10;AI-generated content may be incorrect.">
            <a:extLst>
              <a:ext uri="{FF2B5EF4-FFF2-40B4-BE49-F238E27FC236}">
                <a16:creationId xmlns:a16="http://schemas.microsoft.com/office/drawing/2014/main" id="{C39229B3-408B-E205-66EB-32331F9ED2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434" b="70791"/>
          <a:stretch>
            <a:fillRect/>
          </a:stretch>
        </p:blipFill>
        <p:spPr>
          <a:xfrm>
            <a:off x="837337" y="1818893"/>
            <a:ext cx="3730375" cy="654305"/>
          </a:xfrm>
          <a:prstGeom prst="rect">
            <a:avLst/>
          </a:prstGeom>
        </p:spPr>
      </p:pic>
      <p:pic>
        <p:nvPicPr>
          <p:cNvPr id="16" name="Picture 15" descr="A screenshot of a test&#10;&#10;AI-generated content may be incorrect.">
            <a:extLst>
              <a:ext uri="{FF2B5EF4-FFF2-40B4-BE49-F238E27FC236}">
                <a16:creationId xmlns:a16="http://schemas.microsoft.com/office/drawing/2014/main" id="{DB2C7412-C873-827D-87F5-337B45C103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5" t="43943" r="14996" b="40826"/>
          <a:stretch>
            <a:fillRect/>
          </a:stretch>
        </p:blipFill>
        <p:spPr>
          <a:xfrm>
            <a:off x="836647" y="2470595"/>
            <a:ext cx="3525976" cy="3411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4F008F3-2B65-0BBC-6A3C-6B38D0FC6EE9}"/>
              </a:ext>
            </a:extLst>
          </p:cNvPr>
          <p:cNvSpPr txBox="1"/>
          <p:nvPr/>
        </p:nvSpPr>
        <p:spPr>
          <a:xfrm>
            <a:off x="843213" y="3423930"/>
            <a:ext cx="52565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Diode and capacitor act as simplest Mixer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DC015E-F36F-2BC4-6069-54983F8A248C}"/>
              </a:ext>
            </a:extLst>
          </p:cNvPr>
          <p:cNvSpPr txBox="1"/>
          <p:nvPr/>
        </p:nvSpPr>
        <p:spPr>
          <a:xfrm>
            <a:off x="831667" y="4520748"/>
            <a:ext cx="52565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Math gets complicated so replace diode and capacitor with equation defined device (next slide)</a:t>
            </a:r>
          </a:p>
        </p:txBody>
      </p:sp>
    </p:spTree>
    <p:extLst>
      <p:ext uri="{BB962C8B-B14F-4D97-AF65-F5344CB8AC3E}">
        <p14:creationId xmlns:p14="http://schemas.microsoft.com/office/powerpoint/2010/main" val="1748035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8C943-A05B-2B6B-BDC0-40CDE84CE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DD7FABD-B12D-1FC7-B314-362931D892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41" r="631" b="-685"/>
          <a:stretch>
            <a:fillRect/>
          </a:stretch>
        </p:blipFill>
        <p:spPr>
          <a:xfrm>
            <a:off x="788609" y="3921480"/>
            <a:ext cx="3284311" cy="1091857"/>
          </a:xfrm>
          <a:prstGeom prst="rect">
            <a:avLst/>
          </a:prstGeom>
        </p:spPr>
      </p:pic>
      <p:pic>
        <p:nvPicPr>
          <p:cNvPr id="37" name="Picture 36" descr="A screenshot of a test&#10;&#10;AI-generated content may be incorrect.">
            <a:extLst>
              <a:ext uri="{FF2B5EF4-FFF2-40B4-BE49-F238E27FC236}">
                <a16:creationId xmlns:a16="http://schemas.microsoft.com/office/drawing/2014/main" id="{09976995-9BC4-1196-50BD-642758819C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4" t="57347" r="8973" b="-1276"/>
          <a:stretch>
            <a:fillRect/>
          </a:stretch>
        </p:blipFill>
        <p:spPr>
          <a:xfrm>
            <a:off x="793766" y="5006134"/>
            <a:ext cx="4250427" cy="1151065"/>
          </a:xfrm>
          <a:prstGeom prst="rect">
            <a:avLst/>
          </a:prstGeom>
        </p:spPr>
      </p:pic>
      <p:pic>
        <p:nvPicPr>
          <p:cNvPr id="39" name="Picture 38" descr="A screenshot of a test&#10;&#10;AI-generated content may be incorrect.">
            <a:extLst>
              <a:ext uri="{FF2B5EF4-FFF2-40B4-BE49-F238E27FC236}">
                <a16:creationId xmlns:a16="http://schemas.microsoft.com/office/drawing/2014/main" id="{F39A7748-DD2D-0D23-0EC9-EA38919C40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434" b="70791"/>
          <a:stretch>
            <a:fillRect/>
          </a:stretch>
        </p:blipFill>
        <p:spPr>
          <a:xfrm>
            <a:off x="837337" y="1818893"/>
            <a:ext cx="3730375" cy="654305"/>
          </a:xfrm>
          <a:prstGeom prst="rect">
            <a:avLst/>
          </a:prstGeom>
        </p:spPr>
      </p:pic>
      <p:pic>
        <p:nvPicPr>
          <p:cNvPr id="41" name="Picture 40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67D81D9-5533-4ED3-B077-A1153E000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235" y="2817108"/>
            <a:ext cx="2505075" cy="1095375"/>
          </a:xfrm>
          <a:prstGeom prst="rect">
            <a:avLst/>
          </a:prstGeom>
        </p:spPr>
      </p:pic>
      <p:pic>
        <p:nvPicPr>
          <p:cNvPr id="43" name="Picture 42" descr="A screenshot of a test&#10;&#10;AI-generated content may be incorrect.">
            <a:extLst>
              <a:ext uri="{FF2B5EF4-FFF2-40B4-BE49-F238E27FC236}">
                <a16:creationId xmlns:a16="http://schemas.microsoft.com/office/drawing/2014/main" id="{CBBC0060-7EC3-4E8A-4F3D-0B97F8E296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" t="43943" r="14996" b="40826"/>
          <a:stretch>
            <a:fillRect/>
          </a:stretch>
        </p:blipFill>
        <p:spPr>
          <a:xfrm>
            <a:off x="836647" y="2470595"/>
            <a:ext cx="3525976" cy="3411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1E1239-4BCB-8535-F565-00B3E9BBF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DA9B74A-47D1-34FC-A87A-7B03539398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971" b="244"/>
          <a:stretch>
            <a:fillRect/>
          </a:stretch>
        </p:blipFill>
        <p:spPr>
          <a:xfrm>
            <a:off x="838200" y="365125"/>
            <a:ext cx="7764733" cy="1322323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312559-AB97-7EF0-4C24-020B66A5DCE0}"/>
              </a:ext>
            </a:extLst>
          </p:cNvPr>
          <p:cNvSpPr/>
          <p:nvPr/>
        </p:nvSpPr>
        <p:spPr>
          <a:xfrm>
            <a:off x="4558120" y="1185705"/>
            <a:ext cx="1537880" cy="50498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8CB3450E-D84C-04F3-C0FC-165086216FF8}"/>
              </a:ext>
            </a:extLst>
          </p:cNvPr>
          <p:cNvSpPr>
            <a:spLocks noGrp="1"/>
          </p:cNvSpPr>
          <p:nvPr/>
        </p:nvSpPr>
        <p:spPr>
          <a:xfrm>
            <a:off x="838200" y="2019497"/>
            <a:ext cx="10515600" cy="41259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</a:endParaRPr>
          </a:p>
          <a:p>
            <a:endParaRPr lang="en-US"/>
          </a:p>
        </p:txBody>
      </p:sp>
      <p:pic>
        <p:nvPicPr>
          <p:cNvPr id="6" name="Picture 5" descr="A diagram of a circuit&#10;&#10;AI-generated content may be incorrect.">
            <a:extLst>
              <a:ext uri="{FF2B5EF4-FFF2-40B4-BE49-F238E27FC236}">
                <a16:creationId xmlns:a16="http://schemas.microsoft.com/office/drawing/2014/main" id="{7B45F326-EEDD-A2ED-EC0D-C748A149AD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0146" y="2946487"/>
            <a:ext cx="3686175" cy="27813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A06B9EE-2EA7-5433-BEB7-F4851F8EF6C3}"/>
              </a:ext>
            </a:extLst>
          </p:cNvPr>
          <p:cNvCxnSpPr/>
          <p:nvPr/>
        </p:nvCxnSpPr>
        <p:spPr>
          <a:xfrm flipH="1">
            <a:off x="8261703" y="2303448"/>
            <a:ext cx="470927" cy="8292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3876984-27B0-9743-B22B-2292445E95B9}"/>
              </a:ext>
            </a:extLst>
          </p:cNvPr>
          <p:cNvSpPr txBox="1"/>
          <p:nvPr/>
        </p:nvSpPr>
        <p:spPr>
          <a:xfrm>
            <a:off x="8782615" y="2044095"/>
            <a:ext cx="3007847" cy="667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Equation Defined Device acts as mixer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0573E78-A465-1EA9-DCAD-C3291106FE82}"/>
              </a:ext>
            </a:extLst>
          </p:cNvPr>
          <p:cNvCxnSpPr>
            <a:cxnSpLocks/>
          </p:cNvCxnSpPr>
          <p:nvPr/>
        </p:nvCxnSpPr>
        <p:spPr>
          <a:xfrm>
            <a:off x="6081287" y="3013256"/>
            <a:ext cx="969566" cy="5160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E37254B-746F-A119-4981-B8FC26D4080E}"/>
              </a:ext>
            </a:extLst>
          </p:cNvPr>
          <p:cNvSpPr txBox="1"/>
          <p:nvPr/>
        </p:nvSpPr>
        <p:spPr>
          <a:xfrm>
            <a:off x="4586396" y="2503381"/>
            <a:ext cx="30078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cout_match</a:t>
            </a:r>
            <a:r>
              <a:rPr lang="en-US"/>
              <a:t> wire acts as V(RF)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1DBBA8-F1C5-9E9D-5CCD-4174D8DD447A}"/>
              </a:ext>
            </a:extLst>
          </p:cNvPr>
          <p:cNvSpPr txBox="1"/>
          <p:nvPr/>
        </p:nvSpPr>
        <p:spPr>
          <a:xfrm>
            <a:off x="4816039" y="4340532"/>
            <a:ext cx="196401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VLO voltage source acts as V(LO)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5436173-6040-0F95-9030-82D174053A9B}"/>
              </a:ext>
            </a:extLst>
          </p:cNvPr>
          <p:cNvCxnSpPr>
            <a:cxnSpLocks/>
          </p:cNvCxnSpPr>
          <p:nvPr/>
        </p:nvCxnSpPr>
        <p:spPr>
          <a:xfrm flipV="1">
            <a:off x="6049972" y="4917649"/>
            <a:ext cx="1021757" cy="267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B158174-7A78-F73E-1F36-9A2507845ECD}"/>
              </a:ext>
            </a:extLst>
          </p:cNvPr>
          <p:cNvSpPr/>
          <p:nvPr/>
        </p:nvSpPr>
        <p:spPr>
          <a:xfrm>
            <a:off x="4585157" y="2830619"/>
            <a:ext cx="737676" cy="231953"/>
          </a:xfrm>
          <a:prstGeom prst="rect">
            <a:avLst/>
          </a:prstGeom>
          <a:solidFill>
            <a:srgbClr val="7993FF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08F761-F137-F0C3-2250-8B484DD77D24}"/>
              </a:ext>
            </a:extLst>
          </p:cNvPr>
          <p:cNvSpPr/>
          <p:nvPr/>
        </p:nvSpPr>
        <p:spPr>
          <a:xfrm>
            <a:off x="1359705" y="2527907"/>
            <a:ext cx="382772" cy="231953"/>
          </a:xfrm>
          <a:prstGeom prst="rect">
            <a:avLst/>
          </a:prstGeom>
          <a:solidFill>
            <a:srgbClr val="7993FF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07C92F-9A59-46C9-EAA5-BB583B36146E}"/>
              </a:ext>
            </a:extLst>
          </p:cNvPr>
          <p:cNvSpPr/>
          <p:nvPr/>
        </p:nvSpPr>
        <p:spPr>
          <a:xfrm>
            <a:off x="1866159" y="2532716"/>
            <a:ext cx="495207" cy="231954"/>
          </a:xfrm>
          <a:prstGeom prst="rect">
            <a:avLst/>
          </a:prstGeom>
          <a:solidFill>
            <a:srgbClr val="F3BF8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42F2D1-BCD0-9EFA-B85C-02D2115A678C}"/>
              </a:ext>
            </a:extLst>
          </p:cNvPr>
          <p:cNvSpPr/>
          <p:nvPr/>
        </p:nvSpPr>
        <p:spPr>
          <a:xfrm>
            <a:off x="4820214" y="4933537"/>
            <a:ext cx="683097" cy="325899"/>
          </a:xfrm>
          <a:prstGeom prst="rect">
            <a:avLst/>
          </a:prstGeom>
          <a:solidFill>
            <a:srgbClr val="F3BF8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D83552-18D1-2A10-A109-D969869D7457}"/>
              </a:ext>
            </a:extLst>
          </p:cNvPr>
          <p:cNvSpPr txBox="1"/>
          <p:nvPr/>
        </p:nvSpPr>
        <p:spPr>
          <a:xfrm>
            <a:off x="10296175" y="3912558"/>
            <a:ext cx="1870067" cy="65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Vout</a:t>
            </a:r>
            <a:r>
              <a:rPr lang="en-US"/>
              <a:t> wire acts as </a:t>
            </a:r>
            <a:r>
              <a:rPr lang="en-US" err="1"/>
              <a:t>Vout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6EF8497-8240-605D-7BBB-E9CB2AFC71C8}"/>
              </a:ext>
            </a:extLst>
          </p:cNvPr>
          <p:cNvCxnSpPr>
            <a:cxnSpLocks/>
          </p:cNvCxnSpPr>
          <p:nvPr/>
        </p:nvCxnSpPr>
        <p:spPr>
          <a:xfrm flipH="1">
            <a:off x="9409921" y="4077968"/>
            <a:ext cx="930215" cy="150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ABFB02E1-AF4B-5D64-755D-5EB53744865C}"/>
              </a:ext>
            </a:extLst>
          </p:cNvPr>
          <p:cNvSpPr/>
          <p:nvPr/>
        </p:nvSpPr>
        <p:spPr>
          <a:xfrm>
            <a:off x="922056" y="2536036"/>
            <a:ext cx="331927" cy="231953"/>
          </a:xfrm>
          <a:prstGeom prst="rect">
            <a:avLst/>
          </a:prstGeom>
          <a:solidFill>
            <a:srgbClr val="E87FF9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9290D3-CF5B-D747-BAC2-462FB6FF1BC7}"/>
              </a:ext>
            </a:extLst>
          </p:cNvPr>
          <p:cNvSpPr/>
          <p:nvPr/>
        </p:nvSpPr>
        <p:spPr>
          <a:xfrm>
            <a:off x="10306138" y="4237487"/>
            <a:ext cx="561571" cy="231953"/>
          </a:xfrm>
          <a:prstGeom prst="rect">
            <a:avLst/>
          </a:prstGeom>
          <a:solidFill>
            <a:srgbClr val="E87FF9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33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31F00-73DD-01E5-54E0-A62C686F7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755E42C-40EA-DFAC-2F32-6FE6B7896A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41" r="631" b="-685"/>
          <a:stretch>
            <a:fillRect/>
          </a:stretch>
        </p:blipFill>
        <p:spPr>
          <a:xfrm>
            <a:off x="788609" y="3921480"/>
            <a:ext cx="3284311" cy="1091857"/>
          </a:xfrm>
          <a:prstGeom prst="rect">
            <a:avLst/>
          </a:prstGeom>
        </p:spPr>
      </p:pic>
      <p:pic>
        <p:nvPicPr>
          <p:cNvPr id="46" name="Picture 45" descr="A screenshot of a test&#10;&#10;AI-generated content may be incorrect.">
            <a:extLst>
              <a:ext uri="{FF2B5EF4-FFF2-40B4-BE49-F238E27FC236}">
                <a16:creationId xmlns:a16="http://schemas.microsoft.com/office/drawing/2014/main" id="{8033CEB2-041E-9FE5-1D97-B0A37F38AF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4" t="57347" r="8973" b="-1276"/>
          <a:stretch>
            <a:fillRect/>
          </a:stretch>
        </p:blipFill>
        <p:spPr>
          <a:xfrm>
            <a:off x="793766" y="5006134"/>
            <a:ext cx="4250427" cy="1151065"/>
          </a:xfrm>
          <a:prstGeom prst="rect">
            <a:avLst/>
          </a:prstGeom>
        </p:spPr>
      </p:pic>
      <p:pic>
        <p:nvPicPr>
          <p:cNvPr id="48" name="Picture 47" descr="A screenshot of a test&#10;&#10;AI-generated content may be incorrect.">
            <a:extLst>
              <a:ext uri="{FF2B5EF4-FFF2-40B4-BE49-F238E27FC236}">
                <a16:creationId xmlns:a16="http://schemas.microsoft.com/office/drawing/2014/main" id="{7CED67BD-6949-53F6-5B1A-C861DAB6B2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434" b="70791"/>
          <a:stretch>
            <a:fillRect/>
          </a:stretch>
        </p:blipFill>
        <p:spPr>
          <a:xfrm>
            <a:off x="837337" y="1818893"/>
            <a:ext cx="3730375" cy="654305"/>
          </a:xfrm>
          <a:prstGeom prst="rect">
            <a:avLst/>
          </a:prstGeom>
        </p:spPr>
      </p:pic>
      <p:pic>
        <p:nvPicPr>
          <p:cNvPr id="50" name="Picture 4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D0FA910-96BA-78F8-11AC-D0045A707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235" y="2817108"/>
            <a:ext cx="2505075" cy="1095375"/>
          </a:xfrm>
          <a:prstGeom prst="rect">
            <a:avLst/>
          </a:prstGeom>
        </p:spPr>
      </p:pic>
      <p:pic>
        <p:nvPicPr>
          <p:cNvPr id="52" name="Picture 51" descr="A screenshot of a test&#10;&#10;AI-generated content may be incorrect.">
            <a:extLst>
              <a:ext uri="{FF2B5EF4-FFF2-40B4-BE49-F238E27FC236}">
                <a16:creationId xmlns:a16="http://schemas.microsoft.com/office/drawing/2014/main" id="{2459820D-F41B-6287-3595-B787C69DED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" t="43943" r="14996" b="40826"/>
          <a:stretch>
            <a:fillRect/>
          </a:stretch>
        </p:blipFill>
        <p:spPr>
          <a:xfrm>
            <a:off x="836647" y="2470595"/>
            <a:ext cx="3525976" cy="341180"/>
          </a:xfrm>
          <a:prstGeom prst="rect">
            <a:avLst/>
          </a:prstGeom>
        </p:spPr>
      </p:pic>
      <p:pic>
        <p:nvPicPr>
          <p:cNvPr id="6" name="Picture 5" descr="A diagram of a circuit&#10;&#10;AI-generated content may be incorrect.">
            <a:extLst>
              <a:ext uri="{FF2B5EF4-FFF2-40B4-BE49-F238E27FC236}">
                <a16:creationId xmlns:a16="http://schemas.microsoft.com/office/drawing/2014/main" id="{9D2DD244-F8A4-458F-B3DE-D13879F572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1731" y="2529544"/>
            <a:ext cx="3686175" cy="2781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EAEB19-5113-2E30-8981-60FFB736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81FF05A-2D7D-4E5C-7FA0-F1FD95797BB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7971" b="244"/>
          <a:stretch>
            <a:fillRect/>
          </a:stretch>
        </p:blipFill>
        <p:spPr>
          <a:xfrm>
            <a:off x="838200" y="365125"/>
            <a:ext cx="7764733" cy="1322323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91A3555-E259-ACAD-EC66-4B00319DD40A}"/>
              </a:ext>
            </a:extLst>
          </p:cNvPr>
          <p:cNvSpPr/>
          <p:nvPr/>
        </p:nvSpPr>
        <p:spPr>
          <a:xfrm>
            <a:off x="4558120" y="1185705"/>
            <a:ext cx="1537880" cy="50498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F9F79464-0C01-A05B-E8A2-7D0F7CDF18D5}"/>
              </a:ext>
            </a:extLst>
          </p:cNvPr>
          <p:cNvSpPr>
            <a:spLocks noGrp="1"/>
          </p:cNvSpPr>
          <p:nvPr/>
        </p:nvSpPr>
        <p:spPr>
          <a:xfrm>
            <a:off x="838200" y="2019497"/>
            <a:ext cx="10515600" cy="41259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FAAC4C-924E-86F8-1B87-623B22E708EA}"/>
              </a:ext>
            </a:extLst>
          </p:cNvPr>
          <p:cNvSpPr/>
          <p:nvPr/>
        </p:nvSpPr>
        <p:spPr>
          <a:xfrm>
            <a:off x="2293541" y="3583247"/>
            <a:ext cx="495207" cy="231954"/>
          </a:xfrm>
          <a:prstGeom prst="rect">
            <a:avLst/>
          </a:prstGeom>
          <a:solidFill>
            <a:srgbClr val="F3BF8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D5DD27E-FCD6-E2EF-5FDE-5639773D6C2D}"/>
              </a:ext>
            </a:extLst>
          </p:cNvPr>
          <p:cNvSpPr/>
          <p:nvPr/>
        </p:nvSpPr>
        <p:spPr>
          <a:xfrm>
            <a:off x="2312720" y="3212757"/>
            <a:ext cx="777625" cy="275084"/>
          </a:xfrm>
          <a:prstGeom prst="rect">
            <a:avLst/>
          </a:prstGeom>
          <a:solidFill>
            <a:srgbClr val="E87FF9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FD2156-33A3-073C-9975-EECF611AA95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362" t="-1043" r="18316" b="39908"/>
          <a:stretch>
            <a:fillRect/>
          </a:stretch>
        </p:blipFill>
        <p:spPr>
          <a:xfrm>
            <a:off x="8364366" y="3234663"/>
            <a:ext cx="3647986" cy="1439469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AB2F35D-3297-7C34-6EEB-FC97A7665186}"/>
              </a:ext>
            </a:extLst>
          </p:cNvPr>
          <p:cNvSpPr/>
          <p:nvPr/>
        </p:nvSpPr>
        <p:spPr>
          <a:xfrm>
            <a:off x="9300115" y="4434832"/>
            <a:ext cx="777625" cy="275084"/>
          </a:xfrm>
          <a:prstGeom prst="rect">
            <a:avLst/>
          </a:prstGeom>
          <a:solidFill>
            <a:srgbClr val="E87FF9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339B97-4567-80E9-079A-47F9BA1E52E8}"/>
              </a:ext>
            </a:extLst>
          </p:cNvPr>
          <p:cNvSpPr/>
          <p:nvPr/>
        </p:nvSpPr>
        <p:spPr>
          <a:xfrm>
            <a:off x="9295314" y="4201473"/>
            <a:ext cx="495207" cy="231954"/>
          </a:xfrm>
          <a:prstGeom prst="rect">
            <a:avLst/>
          </a:prstGeom>
          <a:solidFill>
            <a:srgbClr val="F3BF8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FA9A538-D831-A805-E53B-D663DAFA2101}"/>
              </a:ext>
            </a:extLst>
          </p:cNvPr>
          <p:cNvCxnSpPr/>
          <p:nvPr/>
        </p:nvCxnSpPr>
        <p:spPr>
          <a:xfrm flipH="1">
            <a:off x="5297627" y="3210450"/>
            <a:ext cx="3104382" cy="1616413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961F96-D613-8AE1-6364-45B8BA9C7E51}"/>
              </a:ext>
            </a:extLst>
          </p:cNvPr>
          <p:cNvCxnSpPr>
            <a:cxnSpLocks/>
          </p:cNvCxnSpPr>
          <p:nvPr/>
        </p:nvCxnSpPr>
        <p:spPr>
          <a:xfrm flipH="1">
            <a:off x="5268872" y="4705694"/>
            <a:ext cx="3176269" cy="106792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338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15A61-8B0A-79C5-C150-4D2B294EE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632F18F-BF12-B856-50C9-F666B719F2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41" r="631" b="-685"/>
          <a:stretch>
            <a:fillRect/>
          </a:stretch>
        </p:blipFill>
        <p:spPr>
          <a:xfrm>
            <a:off x="788609" y="3921480"/>
            <a:ext cx="3284311" cy="1091857"/>
          </a:xfrm>
          <a:prstGeom prst="rect">
            <a:avLst/>
          </a:prstGeom>
        </p:spPr>
      </p:pic>
      <p:pic>
        <p:nvPicPr>
          <p:cNvPr id="42" name="Picture 41" descr="A screenshot of a test&#10;&#10;AI-generated content may be incorrect.">
            <a:extLst>
              <a:ext uri="{FF2B5EF4-FFF2-40B4-BE49-F238E27FC236}">
                <a16:creationId xmlns:a16="http://schemas.microsoft.com/office/drawing/2014/main" id="{A6E3C746-714F-3C34-D10A-ED65CBF373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4" t="57347" r="8973" b="-1276"/>
          <a:stretch>
            <a:fillRect/>
          </a:stretch>
        </p:blipFill>
        <p:spPr>
          <a:xfrm>
            <a:off x="793766" y="5006134"/>
            <a:ext cx="4250427" cy="1151065"/>
          </a:xfrm>
          <a:prstGeom prst="rect">
            <a:avLst/>
          </a:prstGeom>
        </p:spPr>
      </p:pic>
      <p:pic>
        <p:nvPicPr>
          <p:cNvPr id="6" name="Picture 5" descr="A diagram of a circuit&#10;&#10;AI-generated content may be incorrect.">
            <a:extLst>
              <a:ext uri="{FF2B5EF4-FFF2-40B4-BE49-F238E27FC236}">
                <a16:creationId xmlns:a16="http://schemas.microsoft.com/office/drawing/2014/main" id="{37BCDB87-1E98-6502-48A8-C1E3EDA2E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1090" y="1508751"/>
            <a:ext cx="3686175" cy="2781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6AE150-C851-C33D-B1DF-2A7FC51DB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09E9582-EF42-FCDA-707C-F283C84A84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971" b="244"/>
          <a:stretch>
            <a:fillRect/>
          </a:stretch>
        </p:blipFill>
        <p:spPr>
          <a:xfrm>
            <a:off x="783771" y="365125"/>
            <a:ext cx="7764733" cy="1322323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9C5C1A5-FA59-9C7C-6EB6-1AA18CB6EF07}"/>
              </a:ext>
            </a:extLst>
          </p:cNvPr>
          <p:cNvSpPr/>
          <p:nvPr/>
        </p:nvSpPr>
        <p:spPr>
          <a:xfrm>
            <a:off x="4558120" y="1185705"/>
            <a:ext cx="1537880" cy="50498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test&#10;&#10;AI-generated content may be incorrect.">
            <a:extLst>
              <a:ext uri="{FF2B5EF4-FFF2-40B4-BE49-F238E27FC236}">
                <a16:creationId xmlns:a16="http://schemas.microsoft.com/office/drawing/2014/main" id="{DB911D00-92E8-88C2-CBA3-C39F8DB538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434" b="70791"/>
          <a:stretch>
            <a:fillRect/>
          </a:stretch>
        </p:blipFill>
        <p:spPr>
          <a:xfrm>
            <a:off x="837337" y="1818893"/>
            <a:ext cx="3730375" cy="654305"/>
          </a:xfrm>
          <a:prstGeom prst="rect">
            <a:avLst/>
          </a:prstGeom>
        </p:spPr>
      </p:pic>
      <p:pic>
        <p:nvPicPr>
          <p:cNvPr id="10" name="Picture 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565C7CF-CCAC-0C56-42FE-8E3BAD8979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235" y="2817108"/>
            <a:ext cx="2505075" cy="1095375"/>
          </a:xfrm>
          <a:prstGeom prst="rect">
            <a:avLst/>
          </a:prstGeom>
        </p:spPr>
      </p:pic>
      <p:pic>
        <p:nvPicPr>
          <p:cNvPr id="12" name="Picture 11" descr="A screenshot of a test&#10;&#10;AI-generated content may be incorrect.">
            <a:extLst>
              <a:ext uri="{FF2B5EF4-FFF2-40B4-BE49-F238E27FC236}">
                <a16:creationId xmlns:a16="http://schemas.microsoft.com/office/drawing/2014/main" id="{1C6F005B-3DED-09E9-44F1-D73121A7CD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" t="43943" r="14996" b="40826"/>
          <a:stretch>
            <a:fillRect/>
          </a:stretch>
        </p:blipFill>
        <p:spPr>
          <a:xfrm>
            <a:off x="836647" y="2470595"/>
            <a:ext cx="3525976" cy="3411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C7CBC47-9CFD-4B2D-BF36-A17EEB97209D}"/>
              </a:ext>
            </a:extLst>
          </p:cNvPr>
          <p:cNvSpPr/>
          <p:nvPr/>
        </p:nvSpPr>
        <p:spPr>
          <a:xfrm>
            <a:off x="4910220" y="4431512"/>
            <a:ext cx="1027168" cy="375726"/>
          </a:xfrm>
          <a:prstGeom prst="rect">
            <a:avLst/>
          </a:prstGeom>
          <a:solidFill>
            <a:srgbClr val="F3BF8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2FC7F5-7167-19B0-3376-620A930DCC29}"/>
              </a:ext>
            </a:extLst>
          </p:cNvPr>
          <p:cNvSpPr txBox="1"/>
          <p:nvPr/>
        </p:nvSpPr>
        <p:spPr>
          <a:xfrm>
            <a:off x="7884340" y="1914631"/>
            <a:ext cx="5842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...</a:t>
            </a:r>
          </a:p>
        </p:txBody>
      </p:sp>
      <p:pic>
        <p:nvPicPr>
          <p:cNvPr id="14" name="Picture 13" descr="A diagram of a circuit&#10;&#10;AI-generated content may be incorrect.">
            <a:extLst>
              <a:ext uri="{FF2B5EF4-FFF2-40B4-BE49-F238E27FC236}">
                <a16:creationId xmlns:a16="http://schemas.microsoft.com/office/drawing/2014/main" id="{CFCAEB69-1B6B-3582-9334-78DE58B0A06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828" t="3052" r="-1977" b="8699"/>
          <a:stretch>
            <a:fillRect/>
          </a:stretch>
        </p:blipFill>
        <p:spPr>
          <a:xfrm>
            <a:off x="6751968" y="1971469"/>
            <a:ext cx="1202130" cy="2286338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B8D8DD-A59A-C0F9-156A-4C83AF5681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8076" y="2604278"/>
            <a:ext cx="2997321" cy="154880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012A0F-298F-EE02-57AC-7A5ACE0A6BAC}"/>
              </a:ext>
            </a:extLst>
          </p:cNvPr>
          <p:cNvCxnSpPr/>
          <p:nvPr/>
        </p:nvCxnSpPr>
        <p:spPr>
          <a:xfrm flipH="1" flipV="1">
            <a:off x="6332797" y="2569618"/>
            <a:ext cx="674609" cy="1014643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FD8FF90-6F7D-FEA0-1B5A-3E50F7740E49}"/>
              </a:ext>
            </a:extLst>
          </p:cNvPr>
          <p:cNvCxnSpPr/>
          <p:nvPr/>
        </p:nvCxnSpPr>
        <p:spPr>
          <a:xfrm flipH="1">
            <a:off x="6304041" y="3857431"/>
            <a:ext cx="660233" cy="336828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5185FD9-82C4-A2DD-E70A-96942B427480}"/>
              </a:ext>
            </a:extLst>
          </p:cNvPr>
          <p:cNvSpPr txBox="1"/>
          <p:nvPr/>
        </p:nvSpPr>
        <p:spPr>
          <a:xfrm>
            <a:off x="4867429" y="4427769"/>
            <a:ext cx="59180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2.45 GHz + 2.44 GHz ~ 4.89 GHz (with some difference)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5C6B79D-A896-49CE-F9D5-FD93EE5A6C58}"/>
              </a:ext>
            </a:extLst>
          </p:cNvPr>
          <p:cNvSpPr/>
          <p:nvPr/>
        </p:nvSpPr>
        <p:spPr>
          <a:xfrm>
            <a:off x="4061954" y="3913924"/>
            <a:ext cx="595847" cy="275086"/>
          </a:xfrm>
          <a:prstGeom prst="rect">
            <a:avLst/>
          </a:prstGeom>
          <a:solidFill>
            <a:srgbClr val="F3BF8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282BFC-1404-171D-35A0-67BBEE586D96}"/>
              </a:ext>
            </a:extLst>
          </p:cNvPr>
          <p:cNvSpPr/>
          <p:nvPr/>
        </p:nvSpPr>
        <p:spPr>
          <a:xfrm>
            <a:off x="2321387" y="3236390"/>
            <a:ext cx="769156" cy="259133"/>
          </a:xfrm>
          <a:prstGeom prst="rect">
            <a:avLst/>
          </a:prstGeom>
          <a:solidFill>
            <a:srgbClr val="E87FF9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716AA0-336E-F780-C6FE-37BB18467405}"/>
              </a:ext>
            </a:extLst>
          </p:cNvPr>
          <p:cNvSpPr/>
          <p:nvPr/>
        </p:nvSpPr>
        <p:spPr>
          <a:xfrm>
            <a:off x="6059501" y="4429710"/>
            <a:ext cx="884174" cy="374151"/>
          </a:xfrm>
          <a:prstGeom prst="rect">
            <a:avLst/>
          </a:prstGeom>
          <a:solidFill>
            <a:srgbClr val="E87FF9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9897F19-6513-91E8-A3B3-895427899276}"/>
              </a:ext>
            </a:extLst>
          </p:cNvPr>
          <p:cNvSpPr/>
          <p:nvPr/>
        </p:nvSpPr>
        <p:spPr>
          <a:xfrm>
            <a:off x="1837002" y="4618904"/>
            <a:ext cx="2148369" cy="360049"/>
          </a:xfrm>
          <a:prstGeom prst="rect">
            <a:avLst/>
          </a:prstGeom>
          <a:solidFill>
            <a:srgbClr val="CCFF66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0000"/>
              </a:highlight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BEDC160-968C-09B6-53FB-DCCD35105F69}"/>
              </a:ext>
            </a:extLst>
          </p:cNvPr>
          <p:cNvSpPr/>
          <p:nvPr/>
        </p:nvSpPr>
        <p:spPr>
          <a:xfrm>
            <a:off x="1837002" y="4259468"/>
            <a:ext cx="1429501" cy="331294"/>
          </a:xfrm>
          <a:prstGeom prst="rect">
            <a:avLst/>
          </a:prstGeom>
          <a:solidFill>
            <a:srgbClr val="CCFF66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0000"/>
              </a:highlight>
            </a:endParaRPr>
          </a:p>
        </p:txBody>
      </p:sp>
      <p:pic>
        <p:nvPicPr>
          <p:cNvPr id="36" name="Picture 35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849F4412-4FF5-DF86-BAD8-191C0728C26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51" t="6923" r="1766" b="-1539"/>
          <a:stretch>
            <a:fillRect/>
          </a:stretch>
        </p:blipFill>
        <p:spPr>
          <a:xfrm>
            <a:off x="5141679" y="4977891"/>
            <a:ext cx="3191403" cy="17715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416CF21-D222-5E9B-1F2B-014470508F49}"/>
              </a:ext>
            </a:extLst>
          </p:cNvPr>
          <p:cNvSpPr txBox="1"/>
          <p:nvPr/>
        </p:nvSpPr>
        <p:spPr>
          <a:xfrm>
            <a:off x="8468283" y="5177570"/>
            <a:ext cx="3007847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Fourier simulation shows the 2 peaks are at 4.89 GHz and 4.9 GHz... which are within 10 MHz of each other</a:t>
            </a:r>
          </a:p>
          <a:p>
            <a:endParaRPr lang="en-US" sz="12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F3CABD-FBD6-E838-7D1D-EB374C9406EE}"/>
              </a:ext>
            </a:extLst>
          </p:cNvPr>
          <p:cNvSpPr/>
          <p:nvPr/>
        </p:nvSpPr>
        <p:spPr>
          <a:xfrm>
            <a:off x="6998474" y="4431996"/>
            <a:ext cx="3370443" cy="374426"/>
          </a:xfrm>
          <a:prstGeom prst="rect">
            <a:avLst/>
          </a:prstGeom>
          <a:solidFill>
            <a:srgbClr val="CCFF66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7853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60280-E667-64B2-E9C4-925AB6CF1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54819C5-FB33-8259-C8B6-AF90B4FCE7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41" r="631" b="-685"/>
          <a:stretch>
            <a:fillRect/>
          </a:stretch>
        </p:blipFill>
        <p:spPr>
          <a:xfrm>
            <a:off x="788609" y="3921480"/>
            <a:ext cx="3284311" cy="1091857"/>
          </a:xfrm>
          <a:prstGeom prst="rect">
            <a:avLst/>
          </a:prstGeom>
        </p:spPr>
      </p:pic>
      <p:pic>
        <p:nvPicPr>
          <p:cNvPr id="44" name="Picture 43" descr="A screenshot of a test&#10;&#10;AI-generated content may be incorrect.">
            <a:extLst>
              <a:ext uri="{FF2B5EF4-FFF2-40B4-BE49-F238E27FC236}">
                <a16:creationId xmlns:a16="http://schemas.microsoft.com/office/drawing/2014/main" id="{D357F41B-88B3-0E0F-1EE9-5D6E4EF759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4" t="57347" r="8973" b="-1276"/>
          <a:stretch>
            <a:fillRect/>
          </a:stretch>
        </p:blipFill>
        <p:spPr>
          <a:xfrm>
            <a:off x="793766" y="5006134"/>
            <a:ext cx="4250427" cy="1151065"/>
          </a:xfrm>
          <a:prstGeom prst="rect">
            <a:avLst/>
          </a:prstGeom>
        </p:spPr>
      </p:pic>
      <p:pic>
        <p:nvPicPr>
          <p:cNvPr id="46" name="Picture 45" descr="A screenshot of a test&#10;&#10;AI-generated content may be incorrect.">
            <a:extLst>
              <a:ext uri="{FF2B5EF4-FFF2-40B4-BE49-F238E27FC236}">
                <a16:creationId xmlns:a16="http://schemas.microsoft.com/office/drawing/2014/main" id="{B2BE4A57-5708-9DC9-EA10-79276D6FD6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434" b="70791"/>
          <a:stretch>
            <a:fillRect/>
          </a:stretch>
        </p:blipFill>
        <p:spPr>
          <a:xfrm>
            <a:off x="837337" y="1818893"/>
            <a:ext cx="3730375" cy="654305"/>
          </a:xfrm>
          <a:prstGeom prst="rect">
            <a:avLst/>
          </a:prstGeom>
        </p:spPr>
      </p:pic>
      <p:pic>
        <p:nvPicPr>
          <p:cNvPr id="48" name="Picture 4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EB36612-9483-ABED-E963-6F4C8EED6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235" y="2817108"/>
            <a:ext cx="2505075" cy="1095375"/>
          </a:xfrm>
          <a:prstGeom prst="rect">
            <a:avLst/>
          </a:prstGeom>
        </p:spPr>
      </p:pic>
      <p:pic>
        <p:nvPicPr>
          <p:cNvPr id="50" name="Picture 49" descr="A screenshot of a test&#10;&#10;AI-generated content may be incorrect.">
            <a:extLst>
              <a:ext uri="{FF2B5EF4-FFF2-40B4-BE49-F238E27FC236}">
                <a16:creationId xmlns:a16="http://schemas.microsoft.com/office/drawing/2014/main" id="{FCD5F1D5-5BDE-354A-52D6-F82A23C734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" t="43943" r="14996" b="40826"/>
          <a:stretch>
            <a:fillRect/>
          </a:stretch>
        </p:blipFill>
        <p:spPr>
          <a:xfrm>
            <a:off x="836647" y="2470595"/>
            <a:ext cx="3525976" cy="3411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C4A4BF-1FB4-B0D9-7F77-D9C50F8A4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C73F36A-0526-9DEF-0426-4E578F330E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971" b="244"/>
          <a:stretch>
            <a:fillRect/>
          </a:stretch>
        </p:blipFill>
        <p:spPr>
          <a:xfrm>
            <a:off x="838200" y="365125"/>
            <a:ext cx="7764733" cy="1322323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CD162B4-E178-DBF8-1EF7-AE620A807A99}"/>
              </a:ext>
            </a:extLst>
          </p:cNvPr>
          <p:cNvSpPr/>
          <p:nvPr/>
        </p:nvSpPr>
        <p:spPr>
          <a:xfrm>
            <a:off x="4558120" y="1185705"/>
            <a:ext cx="1537880" cy="50498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000848E7-102D-8C7D-BD44-6FD61767E6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893" r="-291" b="-529"/>
          <a:stretch>
            <a:fillRect/>
          </a:stretch>
        </p:blipFill>
        <p:spPr>
          <a:xfrm>
            <a:off x="5496826" y="2134737"/>
            <a:ext cx="4965234" cy="26061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0FDB19D-4615-F0DD-7DAD-129B8A7BD524}"/>
              </a:ext>
            </a:extLst>
          </p:cNvPr>
          <p:cNvSpPr/>
          <p:nvPr/>
        </p:nvSpPr>
        <p:spPr>
          <a:xfrm>
            <a:off x="1688055" y="5800236"/>
            <a:ext cx="1016553" cy="349440"/>
          </a:xfrm>
          <a:prstGeom prst="rect">
            <a:avLst/>
          </a:prstGeom>
          <a:solidFill>
            <a:srgbClr val="83E7F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3DDD00-195C-A618-CD3C-93E1C4BC91E8}"/>
              </a:ext>
            </a:extLst>
          </p:cNvPr>
          <p:cNvSpPr txBox="1"/>
          <p:nvPr/>
        </p:nvSpPr>
        <p:spPr>
          <a:xfrm>
            <a:off x="4924471" y="5277383"/>
            <a:ext cx="806587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Gain</a:t>
            </a:r>
            <a:r>
              <a:rPr lang="en-US" sz="1400"/>
              <a:t> = </a:t>
            </a:r>
            <a:r>
              <a:rPr lang="en-US" sz="1400" err="1"/>
              <a:t>Vout</a:t>
            </a:r>
            <a:r>
              <a:rPr lang="en-US" sz="1400"/>
              <a:t>/Vin = magnitude(v(</a:t>
            </a:r>
            <a:r>
              <a:rPr lang="en-US" sz="1400" err="1"/>
              <a:t>vout</a:t>
            </a:r>
            <a:r>
              <a:rPr lang="en-US" sz="1400"/>
              <a:t>))/(magnitude(v(</a:t>
            </a:r>
            <a:r>
              <a:rPr lang="en-US" sz="1400" err="1"/>
              <a:t>cout_match</a:t>
            </a:r>
            <a:r>
              <a:rPr lang="en-US" sz="1400"/>
              <a:t>)) = 1.67/1.69 = .988 ~ 1</a:t>
            </a:r>
            <a:endParaRPr lang="en-US" sz="16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70BACD9-EED1-2467-D320-BF822F445B4B}"/>
              </a:ext>
            </a:extLst>
          </p:cNvPr>
          <p:cNvSpPr/>
          <p:nvPr/>
        </p:nvSpPr>
        <p:spPr>
          <a:xfrm>
            <a:off x="10990205" y="5282650"/>
            <a:ext cx="743384" cy="291932"/>
          </a:xfrm>
          <a:prstGeom prst="rect">
            <a:avLst/>
          </a:prstGeom>
          <a:solidFill>
            <a:srgbClr val="83E7F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030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AF5FC-F24C-BC9D-D70F-6CFD3E2BA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7F3ED-8275-277C-E43E-D56DE5EFB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132F268-0129-8777-DEAD-59260BF738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315" b="-1324"/>
          <a:stretch>
            <a:fillRect/>
          </a:stretch>
        </p:blipFill>
        <p:spPr>
          <a:xfrm>
            <a:off x="838200" y="365125"/>
            <a:ext cx="7732225" cy="1343113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B6C6A66-B3D0-B4E1-82F1-716DE143B59D}"/>
              </a:ext>
            </a:extLst>
          </p:cNvPr>
          <p:cNvSpPr/>
          <p:nvPr/>
        </p:nvSpPr>
        <p:spPr>
          <a:xfrm>
            <a:off x="6468200" y="1211694"/>
            <a:ext cx="2106840" cy="50498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187B76CF-68A2-169E-E9D2-F1EB0738C1E8}"/>
              </a:ext>
            </a:extLst>
          </p:cNvPr>
          <p:cNvSpPr>
            <a:spLocks noGrp="1"/>
          </p:cNvSpPr>
          <p:nvPr/>
        </p:nvSpPr>
        <p:spPr>
          <a:xfrm>
            <a:off x="838200" y="2019497"/>
            <a:ext cx="10515600" cy="41259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pic>
        <p:nvPicPr>
          <p:cNvPr id="10" name="Picture 9" descr="A close up of a sign&#10;&#10;AI-generated content may be incorrect.">
            <a:extLst>
              <a:ext uri="{FF2B5EF4-FFF2-40B4-BE49-F238E27FC236}">
                <a16:creationId xmlns:a16="http://schemas.microsoft.com/office/drawing/2014/main" id="{F74D6E91-2765-22D6-2F97-B39B88FD5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71" y="2023344"/>
            <a:ext cx="2695575" cy="1057275"/>
          </a:xfrm>
          <a:prstGeom prst="rect">
            <a:avLst/>
          </a:prstGeom>
        </p:spPr>
      </p:pic>
      <p:pic>
        <p:nvPicPr>
          <p:cNvPr id="11" name="Picture 10" descr="A diagram of a diagram&#10;&#10;AI-generated content may be incorrect.">
            <a:extLst>
              <a:ext uri="{FF2B5EF4-FFF2-40B4-BE49-F238E27FC236}">
                <a16:creationId xmlns:a16="http://schemas.microsoft.com/office/drawing/2014/main" id="{FF706A97-BDB8-1215-0262-8594C47C7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5397" y="3288167"/>
            <a:ext cx="5895976" cy="2077812"/>
          </a:xfrm>
          <a:prstGeom prst="rect">
            <a:avLst/>
          </a:prstGeom>
        </p:spPr>
      </p:pic>
      <p:pic>
        <p:nvPicPr>
          <p:cNvPr id="12" name="Picture 11" descr="A math equations on a white board&#10;&#10;AI-generated content may be incorrect.">
            <a:extLst>
              <a:ext uri="{FF2B5EF4-FFF2-40B4-BE49-F238E27FC236}">
                <a16:creationId xmlns:a16="http://schemas.microsoft.com/office/drawing/2014/main" id="{F73272C8-DE6F-B018-629C-D8F8326FAB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8708" y="3292928"/>
            <a:ext cx="3013983" cy="261257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3412FAD-952C-97ED-ABEA-BDB1F6CF56DE}"/>
              </a:ext>
            </a:extLst>
          </p:cNvPr>
          <p:cNvSpPr/>
          <p:nvPr/>
        </p:nvSpPr>
        <p:spPr>
          <a:xfrm>
            <a:off x="4133888" y="5380904"/>
            <a:ext cx="1059798" cy="534220"/>
          </a:xfrm>
          <a:prstGeom prst="rect">
            <a:avLst/>
          </a:prstGeom>
          <a:solidFill>
            <a:srgbClr val="CCFF66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0000"/>
              </a:highligh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1D3AC1-232C-1325-87FE-0C9D4F8C1460}"/>
              </a:ext>
            </a:extLst>
          </p:cNvPr>
          <p:cNvSpPr/>
          <p:nvPr/>
        </p:nvSpPr>
        <p:spPr>
          <a:xfrm>
            <a:off x="2032945" y="2409103"/>
            <a:ext cx="907398" cy="305621"/>
          </a:xfrm>
          <a:prstGeom prst="rect">
            <a:avLst/>
          </a:prstGeom>
          <a:solidFill>
            <a:srgbClr val="CCFF66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472102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1E67C-09D2-EC4D-3FE4-6CF5D4BE1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4250-93DC-FB9F-95A5-BF7920F25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Circuit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FDC7803-BCCE-AF5F-2BEA-7A2CCFA5D6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315" b="-1324"/>
          <a:stretch>
            <a:fillRect/>
          </a:stretch>
        </p:blipFill>
        <p:spPr>
          <a:xfrm>
            <a:off x="1883228" y="5350782"/>
            <a:ext cx="7732225" cy="1343113"/>
          </a:xfrm>
          <a:prstGeom prst="rect">
            <a:avLst/>
          </a:prstGeom>
          <a:ln>
            <a:noFill/>
          </a:ln>
        </p:spPr>
      </p:pic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EDC2C61-D127-3A01-38AE-6390DC26FFCF}"/>
              </a:ext>
            </a:extLst>
          </p:cNvPr>
          <p:cNvSpPr>
            <a:spLocks noGrp="1"/>
          </p:cNvSpPr>
          <p:nvPr/>
        </p:nvSpPr>
        <p:spPr>
          <a:xfrm>
            <a:off x="838200" y="2019497"/>
            <a:ext cx="10515600" cy="41259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F22E726E-CDC8-B810-2EE6-5B0A675AF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5717"/>
            <a:ext cx="12192000" cy="38265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2D00EB2-6D3C-59B0-FC05-10FFCE03C575}"/>
              </a:ext>
            </a:extLst>
          </p:cNvPr>
          <p:cNvSpPr/>
          <p:nvPr/>
        </p:nvSpPr>
        <p:spPr>
          <a:xfrm>
            <a:off x="2167827" y="6161834"/>
            <a:ext cx="1335195" cy="519155"/>
          </a:xfrm>
          <a:prstGeom prst="rect">
            <a:avLst/>
          </a:prstGeom>
          <a:solidFill>
            <a:srgbClr val="F3BF8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5D5BAB-FF80-F5BD-4048-FB7ACABD28FE}"/>
              </a:ext>
            </a:extLst>
          </p:cNvPr>
          <p:cNvSpPr/>
          <p:nvPr/>
        </p:nvSpPr>
        <p:spPr>
          <a:xfrm>
            <a:off x="1570" y="4550748"/>
            <a:ext cx="834453" cy="606242"/>
          </a:xfrm>
          <a:prstGeom prst="rect">
            <a:avLst/>
          </a:prstGeom>
          <a:solidFill>
            <a:srgbClr val="F3BF8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5E5CD9-7D4B-3691-3976-0A64B5359DC2}"/>
              </a:ext>
            </a:extLst>
          </p:cNvPr>
          <p:cNvSpPr/>
          <p:nvPr/>
        </p:nvSpPr>
        <p:spPr>
          <a:xfrm>
            <a:off x="3273916" y="2822761"/>
            <a:ext cx="3247825" cy="2341247"/>
          </a:xfrm>
          <a:prstGeom prst="rect">
            <a:avLst/>
          </a:prstGeom>
          <a:solidFill>
            <a:srgbClr val="CCFF66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0000"/>
              </a:highligh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A7B514-49A0-D7A2-ABE0-1E9CE8F3D14C}"/>
              </a:ext>
            </a:extLst>
          </p:cNvPr>
          <p:cNvSpPr/>
          <p:nvPr/>
        </p:nvSpPr>
        <p:spPr>
          <a:xfrm>
            <a:off x="4667288" y="6164674"/>
            <a:ext cx="907398" cy="490677"/>
          </a:xfrm>
          <a:prstGeom prst="rect">
            <a:avLst/>
          </a:prstGeom>
          <a:solidFill>
            <a:srgbClr val="CCFF66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0000"/>
              </a:highligh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3B04B9-B25A-5468-293C-6B251A6BD073}"/>
              </a:ext>
            </a:extLst>
          </p:cNvPr>
          <p:cNvSpPr/>
          <p:nvPr/>
        </p:nvSpPr>
        <p:spPr>
          <a:xfrm>
            <a:off x="3735885" y="6153809"/>
            <a:ext cx="800555" cy="52675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32E990-94E5-0D22-3C8A-ED2334037260}"/>
              </a:ext>
            </a:extLst>
          </p:cNvPr>
          <p:cNvSpPr/>
          <p:nvPr/>
        </p:nvSpPr>
        <p:spPr>
          <a:xfrm>
            <a:off x="796743" y="3639209"/>
            <a:ext cx="2346325" cy="1103696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F9C375-3B2E-DE50-7873-E98AADA54E3D}"/>
              </a:ext>
            </a:extLst>
          </p:cNvPr>
          <p:cNvSpPr/>
          <p:nvPr/>
        </p:nvSpPr>
        <p:spPr>
          <a:xfrm>
            <a:off x="6638590" y="2826382"/>
            <a:ext cx="1537629" cy="2344195"/>
          </a:xfrm>
          <a:prstGeom prst="rect">
            <a:avLst/>
          </a:prstGeom>
          <a:solidFill>
            <a:srgbClr val="83E7F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785C6C-F317-522A-8F25-F4CE63B561C9}"/>
              </a:ext>
            </a:extLst>
          </p:cNvPr>
          <p:cNvSpPr/>
          <p:nvPr/>
        </p:nvSpPr>
        <p:spPr>
          <a:xfrm>
            <a:off x="5680647" y="6157410"/>
            <a:ext cx="1570287" cy="537167"/>
          </a:xfrm>
          <a:prstGeom prst="rect">
            <a:avLst/>
          </a:prstGeom>
          <a:solidFill>
            <a:srgbClr val="83E7F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5CBC69-4618-A680-D3D1-95FB161A81FA}"/>
              </a:ext>
            </a:extLst>
          </p:cNvPr>
          <p:cNvSpPr/>
          <p:nvPr/>
        </p:nvSpPr>
        <p:spPr>
          <a:xfrm>
            <a:off x="8330301" y="3454105"/>
            <a:ext cx="2783013" cy="912275"/>
          </a:xfrm>
          <a:prstGeom prst="rect">
            <a:avLst/>
          </a:prstGeom>
          <a:solidFill>
            <a:srgbClr val="E87FF9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CFFDA4-FE28-6EF2-CE39-CA3C1871EFDF}"/>
              </a:ext>
            </a:extLst>
          </p:cNvPr>
          <p:cNvSpPr/>
          <p:nvPr/>
        </p:nvSpPr>
        <p:spPr>
          <a:xfrm>
            <a:off x="7405016" y="6164647"/>
            <a:ext cx="2206070" cy="509504"/>
          </a:xfrm>
          <a:prstGeom prst="rect">
            <a:avLst/>
          </a:prstGeom>
          <a:solidFill>
            <a:srgbClr val="E87FF9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90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8345-CF67-C131-3F09-0016CE3F9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PCB Design</a:t>
            </a:r>
          </a:p>
        </p:txBody>
      </p:sp>
      <p:pic>
        <p:nvPicPr>
          <p:cNvPr id="4" name="Content Placeholder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5C4073E-26B7-0275-FC31-0E2BBF27D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2" r="344" b="87410"/>
          <a:stretch>
            <a:fillRect/>
          </a:stretch>
        </p:blipFill>
        <p:spPr>
          <a:xfrm>
            <a:off x="703233" y="1572999"/>
            <a:ext cx="4157615" cy="500388"/>
          </a:xfrm>
          <a:prstGeom prst="rect">
            <a:avLst/>
          </a:prstGeom>
        </p:spPr>
      </p:pic>
      <p:pic>
        <p:nvPicPr>
          <p:cNvPr id="8" name="Content Placeholder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53961AF5-854A-6E06-7651-F95F2C8E8E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42" t="46030" b="358"/>
          <a:stretch>
            <a:fillRect/>
          </a:stretch>
        </p:blipFill>
        <p:spPr>
          <a:xfrm>
            <a:off x="707817" y="2061439"/>
            <a:ext cx="3605835" cy="1810722"/>
          </a:xfrm>
          <a:prstGeom prst="rect">
            <a:avLst/>
          </a:prstGeom>
        </p:spPr>
      </p:pic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9186CB6-054B-4E55-9385-9BDC2977BF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8" t="-3937" r="68672" b="36220"/>
          <a:stretch>
            <a:fillRect/>
          </a:stretch>
        </p:blipFill>
        <p:spPr>
          <a:xfrm>
            <a:off x="835882" y="4065292"/>
            <a:ext cx="1570905" cy="938000"/>
          </a:xfrm>
          <a:prstGeom prst="rect">
            <a:avLst/>
          </a:prstGeom>
        </p:spPr>
      </p:pic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259D2F8-E695-FE87-8B96-75BC2F22D3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53" r="-314" b="3247"/>
          <a:stretch>
            <a:fillRect/>
          </a:stretch>
        </p:blipFill>
        <p:spPr>
          <a:xfrm>
            <a:off x="6394514" y="4551943"/>
            <a:ext cx="3415809" cy="1533765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30C3966-4A19-C944-4716-264C8C4DF1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64" t="25446" r="399" b="9971"/>
          <a:stretch>
            <a:fillRect/>
          </a:stretch>
        </p:blipFill>
        <p:spPr>
          <a:xfrm>
            <a:off x="1401834" y="4868493"/>
            <a:ext cx="4689389" cy="1211858"/>
          </a:xfrm>
          <a:prstGeom prst="rect">
            <a:avLst/>
          </a:prstGeom>
        </p:spPr>
      </p:pic>
      <p:pic>
        <p:nvPicPr>
          <p:cNvPr id="12" name="Picture 1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31EDC15-45DA-D8E3-66CD-8668E26115F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4" t="55827" r="234" b="17822"/>
          <a:stretch>
            <a:fillRect/>
          </a:stretch>
        </p:blipFill>
        <p:spPr>
          <a:xfrm>
            <a:off x="706476" y="5977407"/>
            <a:ext cx="5792626" cy="36484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FA1BB32-F7CC-A53F-A7E1-071076CD626B}"/>
              </a:ext>
            </a:extLst>
          </p:cNvPr>
          <p:cNvCxnSpPr/>
          <p:nvPr/>
        </p:nvCxnSpPr>
        <p:spPr>
          <a:xfrm>
            <a:off x="717550" y="4024086"/>
            <a:ext cx="11061700" cy="9978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BB38FBC3-D7E6-CC19-F68F-80D5392BBC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8828" y="749641"/>
            <a:ext cx="6444343" cy="29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42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65262B1-DC9B-A0E9-9600-9FBC15C30B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42" t="46030" b="358"/>
          <a:stretch>
            <a:fillRect/>
          </a:stretch>
        </p:blipFill>
        <p:spPr>
          <a:xfrm>
            <a:off x="499050" y="1612590"/>
            <a:ext cx="3605835" cy="1810722"/>
          </a:xfrm>
          <a:prstGeom prst="rect">
            <a:avLst/>
          </a:prstGeom>
        </p:spPr>
      </p:pic>
      <p:pic>
        <p:nvPicPr>
          <p:cNvPr id="12" name="Picture 1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3C8579F-E5AF-B854-7676-7B458141DA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92" t="25556" r="3341" b="54444"/>
          <a:stretch>
            <a:fillRect/>
          </a:stretch>
        </p:blipFill>
        <p:spPr>
          <a:xfrm>
            <a:off x="501961" y="3876849"/>
            <a:ext cx="4552838" cy="375291"/>
          </a:xfrm>
          <a:prstGeom prst="rect">
            <a:avLst/>
          </a:prstGeom>
        </p:spPr>
      </p:pic>
      <p:pic>
        <p:nvPicPr>
          <p:cNvPr id="4" name="Content Placeholder 3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C9D4608E-6C91-EB3A-A756-EAB090F822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01301" y="5070182"/>
            <a:ext cx="6158109" cy="1599158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30990A-9208-6F94-9651-D549BE9E72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2281" y="1097921"/>
            <a:ext cx="7726340" cy="43594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BE1F61-75E2-9AB0-77BD-0EDBDD85F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PCB Design – Board Setup (Physical </a:t>
            </a:r>
            <a:r>
              <a:rPr lang="en-US" err="1"/>
              <a:t>Stackup</a:t>
            </a:r>
            <a:r>
              <a:rPr lang="en-US"/>
              <a:t>)</a:t>
            </a:r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854B3D-02B1-1CF2-9D08-DACA4A19301C}"/>
              </a:ext>
            </a:extLst>
          </p:cNvPr>
          <p:cNvSpPr txBox="1"/>
          <p:nvPr/>
        </p:nvSpPr>
        <p:spPr>
          <a:xfrm>
            <a:off x="7077205" y="5871574"/>
            <a:ext cx="21137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10 mil = 0.254 mm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3EBFCB-962E-2374-47CE-D208D8914143}"/>
              </a:ext>
            </a:extLst>
          </p:cNvPr>
          <p:cNvSpPr/>
          <p:nvPr/>
        </p:nvSpPr>
        <p:spPr>
          <a:xfrm>
            <a:off x="1280336" y="5700186"/>
            <a:ext cx="5165280" cy="181395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BF8CBB-5D44-13FA-9685-406A33CF4D6C}"/>
              </a:ext>
            </a:extLst>
          </p:cNvPr>
          <p:cNvSpPr/>
          <p:nvPr/>
        </p:nvSpPr>
        <p:spPr>
          <a:xfrm>
            <a:off x="7198883" y="5877638"/>
            <a:ext cx="1783253" cy="369284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5294BD-D34B-551A-9763-3A27ECAFABB5}"/>
              </a:ext>
            </a:extLst>
          </p:cNvPr>
          <p:cNvSpPr/>
          <p:nvPr/>
        </p:nvSpPr>
        <p:spPr>
          <a:xfrm>
            <a:off x="7699922" y="3476816"/>
            <a:ext cx="802049" cy="20227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A07DE7-EB4F-2FCF-A056-FDFA3818ACF7}"/>
              </a:ext>
            </a:extLst>
          </p:cNvPr>
          <p:cNvSpPr/>
          <p:nvPr/>
        </p:nvSpPr>
        <p:spPr>
          <a:xfrm>
            <a:off x="7699921" y="2683501"/>
            <a:ext cx="802049" cy="20227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6B358E-7350-E13E-69DA-70EE76425611}"/>
              </a:ext>
            </a:extLst>
          </p:cNvPr>
          <p:cNvSpPr/>
          <p:nvPr/>
        </p:nvSpPr>
        <p:spPr>
          <a:xfrm>
            <a:off x="661098" y="1711404"/>
            <a:ext cx="1229626" cy="242393"/>
          </a:xfrm>
          <a:prstGeom prst="rect">
            <a:avLst/>
          </a:prstGeom>
          <a:solidFill>
            <a:srgbClr val="E87FF9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D5C77E-9275-08F0-5686-9977203E0D8D}"/>
              </a:ext>
            </a:extLst>
          </p:cNvPr>
          <p:cNvSpPr/>
          <p:nvPr/>
        </p:nvSpPr>
        <p:spPr>
          <a:xfrm>
            <a:off x="4836441" y="1346061"/>
            <a:ext cx="1229626" cy="242393"/>
          </a:xfrm>
          <a:prstGeom prst="rect">
            <a:avLst/>
          </a:prstGeom>
          <a:solidFill>
            <a:srgbClr val="E87FF9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A00668-6622-7C98-603F-C53D81CBFF38}"/>
              </a:ext>
            </a:extLst>
          </p:cNvPr>
          <p:cNvSpPr/>
          <p:nvPr/>
        </p:nvSpPr>
        <p:spPr>
          <a:xfrm>
            <a:off x="1424929" y="3855155"/>
            <a:ext cx="870022" cy="397890"/>
          </a:xfrm>
          <a:prstGeom prst="rect">
            <a:avLst/>
          </a:prstGeom>
          <a:solidFill>
            <a:srgbClr val="83E7F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F40775-0C01-358F-4E4F-B7C1BBE9D494}"/>
              </a:ext>
            </a:extLst>
          </p:cNvPr>
          <p:cNvSpPr/>
          <p:nvPr/>
        </p:nvSpPr>
        <p:spPr>
          <a:xfrm>
            <a:off x="9733861" y="2696497"/>
            <a:ext cx="494242" cy="189124"/>
          </a:xfrm>
          <a:prstGeom prst="rect">
            <a:avLst/>
          </a:prstGeom>
          <a:solidFill>
            <a:srgbClr val="83E7F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0ADD1F-BC0E-BFFE-3022-790C2B1F4217}"/>
              </a:ext>
            </a:extLst>
          </p:cNvPr>
          <p:cNvSpPr/>
          <p:nvPr/>
        </p:nvSpPr>
        <p:spPr>
          <a:xfrm>
            <a:off x="9744300" y="3103593"/>
            <a:ext cx="494242" cy="189124"/>
          </a:xfrm>
          <a:prstGeom prst="rect">
            <a:avLst/>
          </a:prstGeom>
          <a:solidFill>
            <a:srgbClr val="83E7F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E3F6D7-B9E7-B520-6155-8FD18540029A}"/>
              </a:ext>
            </a:extLst>
          </p:cNvPr>
          <p:cNvSpPr/>
          <p:nvPr/>
        </p:nvSpPr>
        <p:spPr>
          <a:xfrm>
            <a:off x="9744299" y="3489812"/>
            <a:ext cx="494242" cy="189124"/>
          </a:xfrm>
          <a:prstGeom prst="rect">
            <a:avLst/>
          </a:prstGeom>
          <a:solidFill>
            <a:srgbClr val="83E7F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EBF1C0C-F39A-BA4F-EA6D-96E6548EB715}"/>
              </a:ext>
            </a:extLst>
          </p:cNvPr>
          <p:cNvCxnSpPr/>
          <p:nvPr/>
        </p:nvCxnSpPr>
        <p:spPr>
          <a:xfrm>
            <a:off x="2965439" y="2153845"/>
            <a:ext cx="2153845" cy="452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1B9B80A-8CED-E6EF-5548-718A6E0362DE}"/>
              </a:ext>
            </a:extLst>
          </p:cNvPr>
          <p:cNvCxnSpPr>
            <a:cxnSpLocks/>
          </p:cNvCxnSpPr>
          <p:nvPr/>
        </p:nvCxnSpPr>
        <p:spPr>
          <a:xfrm>
            <a:off x="2516589" y="2571378"/>
            <a:ext cx="2602695" cy="4630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A26940-BD07-4965-CA4B-E5A13FD63484}"/>
              </a:ext>
            </a:extLst>
          </p:cNvPr>
          <p:cNvCxnSpPr>
            <a:cxnSpLocks/>
          </p:cNvCxnSpPr>
          <p:nvPr/>
        </p:nvCxnSpPr>
        <p:spPr>
          <a:xfrm>
            <a:off x="2318260" y="2936720"/>
            <a:ext cx="2811462" cy="442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C6E6065-BD25-F5EA-3490-DF27F7E6D221}"/>
              </a:ext>
            </a:extLst>
          </p:cNvPr>
          <p:cNvCxnSpPr>
            <a:cxnSpLocks/>
          </p:cNvCxnSpPr>
          <p:nvPr/>
        </p:nvCxnSpPr>
        <p:spPr>
          <a:xfrm>
            <a:off x="2516589" y="3333378"/>
            <a:ext cx="2613132" cy="452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650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E2CF9-574F-A947-7A88-F736E1AF5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D3BA30-4330-8112-AB99-5814A6A661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1891" y="1721242"/>
            <a:ext cx="6769069" cy="29004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E66320-9A6B-5889-5CC3-9D2843357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PCB Design – PCB Calculations</a:t>
            </a:r>
          </a:p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D1703F3-BEA5-997B-7D60-C7163B1788B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025023" cy="44035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Original Set up using:</a:t>
            </a:r>
          </a:p>
          <a:p>
            <a:pPr lvl="1"/>
            <a:r>
              <a:rPr lang="en-US" sz="2000"/>
              <a:t>Er = 4.3</a:t>
            </a:r>
          </a:p>
          <a:p>
            <a:pPr lvl="1"/>
            <a:r>
              <a:rPr lang="en-US" sz="2000"/>
              <a:t>H = 0.25 mm (from Board Setup)</a:t>
            </a:r>
          </a:p>
          <a:p>
            <a:pPr lvl="1"/>
            <a:r>
              <a:rPr lang="en-US" sz="2000"/>
              <a:t>T = 0.035 mm (from Board Setup)</a:t>
            </a:r>
          </a:p>
          <a:p>
            <a:pPr lvl="1"/>
            <a:r>
              <a:rPr lang="en-US" sz="2000"/>
              <a:t>Freq = 2.45 GHz</a:t>
            </a:r>
          </a:p>
          <a:p>
            <a:r>
              <a:rPr lang="en-US" sz="2400"/>
              <a:t>Desired trace width: </a:t>
            </a:r>
          </a:p>
          <a:p>
            <a:pPr lvl="1"/>
            <a:r>
              <a:rPr lang="en-US" sz="2000"/>
              <a:t>1.5 - 3mm</a:t>
            </a:r>
          </a:p>
          <a:p>
            <a:r>
              <a:rPr lang="en-US" sz="2400"/>
              <a:t>Actual trace width: </a:t>
            </a:r>
            <a:endParaRPr lang="en-US" sz="2400">
              <a:solidFill>
                <a:srgbClr val="000000"/>
              </a:solidFill>
            </a:endParaRPr>
          </a:p>
          <a:p>
            <a:pPr lvl="1"/>
            <a:r>
              <a:rPr lang="en-US" sz="2000" b="1">
                <a:solidFill>
                  <a:srgbClr val="FF0000"/>
                </a:solidFill>
              </a:rPr>
              <a:t>0.46 mm</a:t>
            </a:r>
            <a:endParaRPr lang="en-US" sz="2000"/>
          </a:p>
          <a:p>
            <a:pPr lvl="1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A9F754-D45D-F17E-C36C-40E0B190D64A}"/>
              </a:ext>
            </a:extLst>
          </p:cNvPr>
          <p:cNvSpPr/>
          <p:nvPr/>
        </p:nvSpPr>
        <p:spPr>
          <a:xfrm>
            <a:off x="8846600" y="2049319"/>
            <a:ext cx="776077" cy="178686"/>
          </a:xfrm>
          <a:prstGeom prst="rect">
            <a:avLst/>
          </a:prstGeom>
          <a:solidFill>
            <a:srgbClr val="83E7F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0EAD741-D1C9-9165-750A-3FB281666E61}"/>
              </a:ext>
            </a:extLst>
          </p:cNvPr>
          <p:cNvSpPr/>
          <p:nvPr/>
        </p:nvSpPr>
        <p:spPr>
          <a:xfrm>
            <a:off x="1612819" y="2216332"/>
            <a:ext cx="828268" cy="283069"/>
          </a:xfrm>
          <a:prstGeom prst="rect">
            <a:avLst/>
          </a:prstGeom>
          <a:solidFill>
            <a:srgbClr val="83E7F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0293CC-3D5F-4846-2A75-175E72EEB01E}"/>
              </a:ext>
            </a:extLst>
          </p:cNvPr>
          <p:cNvSpPr/>
          <p:nvPr/>
        </p:nvSpPr>
        <p:spPr>
          <a:xfrm>
            <a:off x="1599785" y="2517468"/>
            <a:ext cx="1447484" cy="419842"/>
          </a:xfrm>
          <a:prstGeom prst="rect">
            <a:avLst/>
          </a:prstGeom>
          <a:solidFill>
            <a:srgbClr val="7993FF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74A81E-F937-A364-94AE-8F772D47FB79}"/>
              </a:ext>
            </a:extLst>
          </p:cNvPr>
          <p:cNvSpPr/>
          <p:nvPr/>
        </p:nvSpPr>
        <p:spPr>
          <a:xfrm>
            <a:off x="8844003" y="2580096"/>
            <a:ext cx="925567" cy="169323"/>
          </a:xfrm>
          <a:prstGeom prst="rect">
            <a:avLst/>
          </a:prstGeom>
          <a:solidFill>
            <a:srgbClr val="7993FF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24AA06-60E2-468E-B91E-242C1C3B2145}"/>
              </a:ext>
            </a:extLst>
          </p:cNvPr>
          <p:cNvSpPr/>
          <p:nvPr/>
        </p:nvSpPr>
        <p:spPr>
          <a:xfrm>
            <a:off x="1594762" y="2960688"/>
            <a:ext cx="1476412" cy="315460"/>
          </a:xfrm>
          <a:prstGeom prst="rect">
            <a:avLst/>
          </a:prstGeom>
          <a:solidFill>
            <a:srgbClr val="F3BF8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D9CD6C-7729-1034-E551-7480D7904FD8}"/>
              </a:ext>
            </a:extLst>
          </p:cNvPr>
          <p:cNvSpPr/>
          <p:nvPr/>
        </p:nvSpPr>
        <p:spPr>
          <a:xfrm>
            <a:off x="8870295" y="2939809"/>
            <a:ext cx="944056" cy="158886"/>
          </a:xfrm>
          <a:prstGeom prst="rect">
            <a:avLst/>
          </a:prstGeom>
          <a:solidFill>
            <a:srgbClr val="F3BF8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382C2D-29C0-0EF2-38DC-7A6C96B1A1FC}"/>
              </a:ext>
            </a:extLst>
          </p:cNvPr>
          <p:cNvSpPr/>
          <p:nvPr/>
        </p:nvSpPr>
        <p:spPr>
          <a:xfrm>
            <a:off x="1579673" y="3298035"/>
            <a:ext cx="1845487" cy="284146"/>
          </a:xfrm>
          <a:prstGeom prst="rect">
            <a:avLst/>
          </a:prstGeom>
          <a:solidFill>
            <a:srgbClr val="E87FF9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A1CA60-DDCC-6780-9DFB-1B9B93CBED4C}"/>
              </a:ext>
            </a:extLst>
          </p:cNvPr>
          <p:cNvSpPr/>
          <p:nvPr/>
        </p:nvSpPr>
        <p:spPr>
          <a:xfrm>
            <a:off x="8719508" y="3913898"/>
            <a:ext cx="1031296" cy="148448"/>
          </a:xfrm>
          <a:prstGeom prst="rect">
            <a:avLst/>
          </a:prstGeom>
          <a:solidFill>
            <a:srgbClr val="E87FF9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54D850-1BC6-3F14-B3A6-8590A376418A}"/>
              </a:ext>
            </a:extLst>
          </p:cNvPr>
          <p:cNvSpPr/>
          <p:nvPr/>
        </p:nvSpPr>
        <p:spPr>
          <a:xfrm>
            <a:off x="1395159" y="4854680"/>
            <a:ext cx="1271772" cy="400600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883A84-015B-ABB4-1F18-00D34AA10A68}"/>
              </a:ext>
            </a:extLst>
          </p:cNvPr>
          <p:cNvSpPr/>
          <p:nvPr/>
        </p:nvSpPr>
        <p:spPr>
          <a:xfrm>
            <a:off x="10434776" y="2036323"/>
            <a:ext cx="1104759" cy="181394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08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11C8A-9E68-6892-F16B-7845D2970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C87EF-C79F-ECBE-9184-A47BFAB5B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PCB Design – PCB Calculations</a:t>
            </a:r>
          </a:p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E214232-F9FC-F98F-DEFE-939E49CD0950}"/>
              </a:ext>
            </a:extLst>
          </p:cNvPr>
          <p:cNvSpPr txBox="1">
            <a:spLocks/>
          </p:cNvSpPr>
          <p:nvPr/>
        </p:nvSpPr>
        <p:spPr>
          <a:xfrm>
            <a:off x="838200" y="1836063"/>
            <a:ext cx="4127326" cy="439309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Solutions to increase trace width:</a:t>
            </a:r>
          </a:p>
          <a:p>
            <a:pPr lvl="1"/>
            <a:r>
              <a:rPr lang="en-US" sz="2000">
                <a:solidFill>
                  <a:srgbClr val="FF0000"/>
                </a:solidFill>
              </a:rPr>
              <a:t>Increase dielectric constant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/>
              <a:t>Can't change because requirement</a:t>
            </a:r>
          </a:p>
          <a:p>
            <a:pPr lvl="1"/>
            <a:r>
              <a:rPr lang="en-US" sz="2000">
                <a:solidFill>
                  <a:srgbClr val="FF0000"/>
                </a:solidFill>
              </a:rPr>
              <a:t>Increase substrate height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/>
              <a:t>Limited to .254 (10 mil) for prepreg</a:t>
            </a:r>
          </a:p>
          <a:p>
            <a:pPr lvl="1"/>
            <a:r>
              <a:rPr lang="en-US" sz="2000">
                <a:solidFill>
                  <a:srgbClr val="00B050"/>
                </a:solidFill>
              </a:rPr>
              <a:t>Switch from microstrip to coplanar wave guide w/ground plane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400"/>
              <a:t>With gap = 1 mm, increases width up to .51 mm</a:t>
            </a:r>
          </a:p>
          <a:p>
            <a:pPr lvl="1"/>
            <a:r>
              <a:rPr lang="en-US" sz="2000">
                <a:solidFill>
                  <a:srgbClr val="00B050"/>
                </a:solidFill>
              </a:rPr>
              <a:t>Make 3rd layer GND (instead of 2nd)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400"/>
              <a:t>Effectively increase substrate height to .25 + .035+1.24 = 1.524 mm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400"/>
              <a:t>Combined with coplanar waveguide w/ ground plane (gap S = 1mm), creates width of</a:t>
            </a:r>
            <a:r>
              <a:rPr lang="en-US" sz="1400" b="1">
                <a:solidFill>
                  <a:srgbClr val="00B050"/>
                </a:solidFill>
              </a:rPr>
              <a:t> 2.47 mm</a:t>
            </a:r>
          </a:p>
          <a:p>
            <a:r>
              <a:rPr lang="en-US" sz="2400"/>
              <a:t>Desired trace width: </a:t>
            </a:r>
          </a:p>
          <a:p>
            <a:pPr lvl="1"/>
            <a:r>
              <a:rPr lang="en-US" sz="2000"/>
              <a:t>1.5 - 3mm</a:t>
            </a:r>
          </a:p>
          <a:p>
            <a:r>
              <a:rPr lang="en-US" sz="2400"/>
              <a:t>Actual trace width: </a:t>
            </a:r>
            <a:endParaRPr lang="en-US" sz="2400">
              <a:solidFill>
                <a:srgbClr val="000000"/>
              </a:solidFill>
            </a:endParaRPr>
          </a:p>
          <a:p>
            <a:pPr lvl="1"/>
            <a:r>
              <a:rPr lang="en-US" sz="2000" b="1">
                <a:solidFill>
                  <a:srgbClr val="00B050"/>
                </a:solidFill>
              </a:rPr>
              <a:t>2.47 mm</a:t>
            </a:r>
            <a:endParaRPr lang="en-US" sz="2000">
              <a:solidFill>
                <a:srgbClr val="00B050"/>
              </a:solidFill>
            </a:endParaRPr>
          </a:p>
          <a:p>
            <a:pPr lvl="1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15CA3D-9918-1922-8A72-6663F3F3A9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9" t="10294" r="5502" b="368"/>
          <a:stretch>
            <a:fillRect/>
          </a:stretch>
        </p:blipFill>
        <p:spPr>
          <a:xfrm>
            <a:off x="5231837" y="1837150"/>
            <a:ext cx="6769683" cy="29029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B8144CC-5E4E-8D88-9B9E-92AC932AC36E}"/>
              </a:ext>
            </a:extLst>
          </p:cNvPr>
          <p:cNvSpPr/>
          <p:nvPr/>
        </p:nvSpPr>
        <p:spPr>
          <a:xfrm>
            <a:off x="1530858" y="5835885"/>
            <a:ext cx="979499" cy="306655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C8C11A-6ACA-4306-0DB0-27B1730BF888}"/>
              </a:ext>
            </a:extLst>
          </p:cNvPr>
          <p:cNvSpPr/>
          <p:nvPr/>
        </p:nvSpPr>
        <p:spPr>
          <a:xfrm>
            <a:off x="10455652" y="2025884"/>
            <a:ext cx="906431" cy="181396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381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4A6E9-ABAD-C2D6-DF76-EE744EDE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EE3DB-12BA-642A-133A-C0E633C22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PCB Design – Board Setup (Design Rules)</a:t>
            </a:r>
          </a:p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B75E550-FFF0-F6E2-F83C-2A7477CCC486}"/>
              </a:ext>
            </a:extLst>
          </p:cNvPr>
          <p:cNvSpPr txBox="1">
            <a:spLocks/>
          </p:cNvSpPr>
          <p:nvPr/>
        </p:nvSpPr>
        <p:spPr>
          <a:xfrm>
            <a:off x="838200" y="1836063"/>
            <a:ext cx="4899763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Board set up updated to match PCB calculations</a:t>
            </a:r>
          </a:p>
          <a:p>
            <a:pPr lvl="1"/>
            <a:r>
              <a:rPr lang="en-US" sz="2000"/>
              <a:t>Minimum clearance (S)  = 1 mm</a:t>
            </a:r>
          </a:p>
          <a:p>
            <a:pPr lvl="1"/>
            <a:r>
              <a:rPr lang="en-US" sz="2000">
                <a:solidFill>
                  <a:srgbClr val="000000"/>
                </a:solidFill>
              </a:rPr>
              <a:t>Minimum track width (W)  = 2.47 mm</a:t>
            </a:r>
          </a:p>
          <a:p>
            <a:pPr lvl="1"/>
            <a:r>
              <a:rPr lang="en-US" sz="2000">
                <a:solidFill>
                  <a:srgbClr val="000000"/>
                </a:solidFill>
              </a:rPr>
              <a:t>Copper to edge clearance = 0.5 mm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>
                <a:solidFill>
                  <a:srgbClr val="000000"/>
                </a:solidFill>
              </a:rPr>
              <a:t>Good practice</a:t>
            </a:r>
          </a:p>
          <a:p>
            <a:pPr lvl="1"/>
            <a:endParaRPr lang="en-US" sz="2000" b="1">
              <a:solidFill>
                <a:srgbClr val="00B050"/>
              </a:solidFill>
            </a:endParaRPr>
          </a:p>
          <a:p>
            <a:pPr lvl="1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BDCFCA-8381-9906-1DE4-B38BC2276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730" y="1831539"/>
            <a:ext cx="6216432" cy="35289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B64019A-70BA-922B-C381-D6E3B2B64C16}"/>
              </a:ext>
            </a:extLst>
          </p:cNvPr>
          <p:cNvSpPr/>
          <p:nvPr/>
        </p:nvSpPr>
        <p:spPr>
          <a:xfrm>
            <a:off x="1641540" y="2621851"/>
            <a:ext cx="3472524" cy="221514"/>
          </a:xfrm>
          <a:prstGeom prst="rect">
            <a:avLst/>
          </a:prstGeom>
          <a:solidFill>
            <a:srgbClr val="7993FF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620260-CB1D-66EE-F6DB-ACDB673F1B73}"/>
              </a:ext>
            </a:extLst>
          </p:cNvPr>
          <p:cNvSpPr/>
          <p:nvPr/>
        </p:nvSpPr>
        <p:spPr>
          <a:xfrm>
            <a:off x="7121675" y="2225194"/>
            <a:ext cx="2136416" cy="179760"/>
          </a:xfrm>
          <a:prstGeom prst="rect">
            <a:avLst/>
          </a:prstGeom>
          <a:solidFill>
            <a:srgbClr val="7993FF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01F9DB-1919-F30F-0300-43496FDF1900}"/>
              </a:ext>
            </a:extLst>
          </p:cNvPr>
          <p:cNvSpPr/>
          <p:nvPr/>
        </p:nvSpPr>
        <p:spPr>
          <a:xfrm>
            <a:off x="1579673" y="2953569"/>
            <a:ext cx="4037541" cy="231954"/>
          </a:xfrm>
          <a:prstGeom prst="rect">
            <a:avLst/>
          </a:prstGeom>
          <a:solidFill>
            <a:srgbClr val="E87FF9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E7B77A-564E-01FD-69DB-116DBD5C6F4A}"/>
              </a:ext>
            </a:extLst>
          </p:cNvPr>
          <p:cNvSpPr/>
          <p:nvPr/>
        </p:nvSpPr>
        <p:spPr>
          <a:xfrm>
            <a:off x="7122439" y="2442089"/>
            <a:ext cx="2137761" cy="179762"/>
          </a:xfrm>
          <a:prstGeom prst="rect">
            <a:avLst/>
          </a:prstGeom>
          <a:solidFill>
            <a:srgbClr val="E87FF9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5219BB-8903-6972-7F73-4E70BD9F5672}"/>
              </a:ext>
            </a:extLst>
          </p:cNvPr>
          <p:cNvSpPr/>
          <p:nvPr/>
        </p:nvSpPr>
        <p:spPr>
          <a:xfrm>
            <a:off x="1573885" y="3294718"/>
            <a:ext cx="3908548" cy="231950"/>
          </a:xfrm>
          <a:prstGeom prst="rect">
            <a:avLst/>
          </a:prstGeom>
          <a:solidFill>
            <a:srgbClr val="F3BF8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C1D62-7D88-EDF5-DB4E-F2050FEA5771}"/>
              </a:ext>
            </a:extLst>
          </p:cNvPr>
          <p:cNvSpPr/>
          <p:nvPr/>
        </p:nvSpPr>
        <p:spPr>
          <a:xfrm>
            <a:off x="7116651" y="3430415"/>
            <a:ext cx="2154905" cy="200635"/>
          </a:xfrm>
          <a:prstGeom prst="rect">
            <a:avLst/>
          </a:prstGeom>
          <a:solidFill>
            <a:srgbClr val="F3BF8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diagram of a signal&#10;&#10;AI-generated content may be incorrect.">
            <a:extLst>
              <a:ext uri="{FF2B5EF4-FFF2-40B4-BE49-F238E27FC236}">
                <a16:creationId xmlns:a16="http://schemas.microsoft.com/office/drawing/2014/main" id="{1BC7036A-4F26-2713-6620-F53B2E316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753" y="4019094"/>
            <a:ext cx="3729234" cy="132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164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27514-DC04-48A6-EECD-64AF2FD7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E5F9B-1820-891C-7853-C39E8B06F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PCB Design – Component Placement</a:t>
            </a:r>
            <a:endParaRPr lang="en-US">
              <a:solidFill>
                <a:srgbClr val="FF0000"/>
              </a:solidFill>
            </a:endParaRPr>
          </a:p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903114E-3083-0DE5-89BD-70F451A20E9B}"/>
              </a:ext>
            </a:extLst>
          </p:cNvPr>
          <p:cNvSpPr txBox="1">
            <a:spLocks/>
          </p:cNvSpPr>
          <p:nvPr/>
        </p:nvSpPr>
        <p:spPr>
          <a:xfrm>
            <a:off x="838200" y="1836063"/>
            <a:ext cx="4899763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Requirements:</a:t>
            </a:r>
            <a:endParaRPr lang="en-US" sz="2000">
              <a:solidFill>
                <a:srgbClr val="000000"/>
              </a:solidFill>
            </a:endParaRPr>
          </a:p>
          <a:p>
            <a:pPr lvl="1"/>
            <a:endParaRPr lang="en-US" sz="2000" b="1">
              <a:solidFill>
                <a:srgbClr val="00B050"/>
              </a:solidFill>
            </a:endParaRPr>
          </a:p>
          <a:p>
            <a:pPr lvl="1"/>
            <a:endParaRPr lang="en-US"/>
          </a:p>
        </p:txBody>
      </p:sp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720DD3E-911B-C09B-468D-C170D452F6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" t="55827" r="234" b="17822"/>
          <a:stretch>
            <a:fillRect/>
          </a:stretch>
        </p:blipFill>
        <p:spPr>
          <a:xfrm>
            <a:off x="967435" y="2282229"/>
            <a:ext cx="5792626" cy="364842"/>
          </a:xfrm>
          <a:prstGeom prst="rect">
            <a:avLst/>
          </a:prstGeom>
        </p:spPr>
      </p:pic>
      <p:pic>
        <p:nvPicPr>
          <p:cNvPr id="11" name="Picture 10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636517D-8F5D-D1F7-DF74-311EFF3ED5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78" b="28974"/>
          <a:stretch>
            <a:fillRect/>
          </a:stretch>
        </p:blipFill>
        <p:spPr>
          <a:xfrm>
            <a:off x="1279719" y="2787861"/>
            <a:ext cx="3769352" cy="1237634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0FB06C-8CEA-7269-E6C9-BB84663A2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061" y="1748064"/>
            <a:ext cx="4924425" cy="3390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13ED42-B8FF-D99C-42B6-5FBC1E7511A7}"/>
              </a:ext>
            </a:extLst>
          </p:cNvPr>
          <p:cNvSpPr txBox="1"/>
          <p:nvPr/>
        </p:nvSpPr>
        <p:spPr>
          <a:xfrm>
            <a:off x="5990703" y="5370026"/>
            <a:ext cx="493271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Largest trace = between LNA and Mixer</a:t>
            </a:r>
          </a:p>
          <a:p>
            <a:r>
              <a:rPr lang="en-US"/>
              <a:t>R = 5.902 (&lt; 6mm)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82335E-60D5-9BBF-E00E-9552959F436D}"/>
              </a:ext>
            </a:extLst>
          </p:cNvPr>
          <p:cNvSpPr/>
          <p:nvPr/>
        </p:nvSpPr>
        <p:spPr>
          <a:xfrm>
            <a:off x="6276040" y="3158988"/>
            <a:ext cx="1197213" cy="284884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89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A824A-38AD-2724-52B9-ED063C575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1C041-9C05-9B29-7846-B13ACF748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PCB Design – Vias</a:t>
            </a:r>
          </a:p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B104FEA-A7E7-5ED7-00C5-14939DEFACA6}"/>
              </a:ext>
            </a:extLst>
          </p:cNvPr>
          <p:cNvSpPr txBox="1">
            <a:spLocks/>
          </p:cNvSpPr>
          <p:nvPr/>
        </p:nvSpPr>
        <p:spPr>
          <a:xfrm>
            <a:off x="838200" y="1836063"/>
            <a:ext cx="4899763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Requirements:</a:t>
            </a:r>
            <a:endParaRPr lang="en-US" sz="2000">
              <a:solidFill>
                <a:srgbClr val="000000"/>
              </a:solidFill>
            </a:endParaRPr>
          </a:p>
          <a:p>
            <a:pPr lvl="1"/>
            <a:endParaRPr lang="en-US" sz="2000" b="1">
              <a:solidFill>
                <a:srgbClr val="00B050"/>
              </a:solidFill>
            </a:endParaRPr>
          </a:p>
          <a:p>
            <a:pPr lvl="1"/>
            <a:endParaRPr lang="en-US"/>
          </a:p>
        </p:txBody>
      </p:sp>
      <p:pic>
        <p:nvPicPr>
          <p:cNvPr id="11" name="Picture 10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98EA09E-5B81-EAAD-736E-17D096CF21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048" r="-278" b="2994"/>
          <a:stretch>
            <a:fillRect/>
          </a:stretch>
        </p:blipFill>
        <p:spPr>
          <a:xfrm>
            <a:off x="1164897" y="2318135"/>
            <a:ext cx="3769352" cy="365197"/>
          </a:xfrm>
          <a:prstGeom prst="rect">
            <a:avLst/>
          </a:prstGeom>
        </p:spPr>
      </p:pic>
      <p:pic>
        <p:nvPicPr>
          <p:cNvPr id="10" name="Picture 9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3150B146-551E-E06C-B779-73D87C8705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68" r="55" b="-909"/>
          <a:stretch>
            <a:fillRect/>
          </a:stretch>
        </p:blipFill>
        <p:spPr>
          <a:xfrm>
            <a:off x="4595092" y="1830887"/>
            <a:ext cx="7223766" cy="45123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0A0EC7-53F0-CD62-60A7-C23356C7307D}"/>
              </a:ext>
            </a:extLst>
          </p:cNvPr>
          <p:cNvSpPr txBox="1"/>
          <p:nvPr/>
        </p:nvSpPr>
        <p:spPr>
          <a:xfrm>
            <a:off x="834572" y="2689618"/>
            <a:ext cx="333415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In2.Cu = layer 3 = Ground plane</a:t>
            </a:r>
          </a:p>
          <a:p>
            <a:endParaRPr lang="en-US"/>
          </a:p>
          <a:p>
            <a:r>
              <a:rPr lang="en-US"/>
              <a:t>(Ground plane was moved to layer 3 to allow for wider traces)</a:t>
            </a:r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676E55E2-EC1E-82A1-18ED-B7C38E7154B8}"/>
              </a:ext>
            </a:extLst>
          </p:cNvPr>
          <p:cNvSpPr/>
          <p:nvPr/>
        </p:nvSpPr>
        <p:spPr>
          <a:xfrm>
            <a:off x="5851071" y="1817914"/>
            <a:ext cx="1170214" cy="503464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F30878-74C7-C151-CD7A-FB37B64F01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9828" b="-445"/>
          <a:stretch>
            <a:fillRect/>
          </a:stretch>
        </p:blipFill>
        <p:spPr>
          <a:xfrm>
            <a:off x="2190070" y="3890962"/>
            <a:ext cx="1526057" cy="24615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F607E74-CCA4-BD08-D342-D2CB8C6367DF}"/>
              </a:ext>
            </a:extLst>
          </p:cNvPr>
          <p:cNvSpPr txBox="1"/>
          <p:nvPr/>
        </p:nvSpPr>
        <p:spPr>
          <a:xfrm>
            <a:off x="1592175" y="4520602"/>
            <a:ext cx="9132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Layer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C537BD-B55C-A834-5319-956D85806E51}"/>
              </a:ext>
            </a:extLst>
          </p:cNvPr>
          <p:cNvSpPr txBox="1"/>
          <p:nvPr/>
        </p:nvSpPr>
        <p:spPr>
          <a:xfrm>
            <a:off x="1592175" y="4858058"/>
            <a:ext cx="9132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Layer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CD98B3-BA23-8311-AFD0-517E77B7FA49}"/>
              </a:ext>
            </a:extLst>
          </p:cNvPr>
          <p:cNvSpPr txBox="1"/>
          <p:nvPr/>
        </p:nvSpPr>
        <p:spPr>
          <a:xfrm>
            <a:off x="1581289" y="5195516"/>
            <a:ext cx="9132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Layer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BE8351-B5E3-99FA-BC68-F7B5A4C33FAC}"/>
              </a:ext>
            </a:extLst>
          </p:cNvPr>
          <p:cNvSpPr txBox="1"/>
          <p:nvPr/>
        </p:nvSpPr>
        <p:spPr>
          <a:xfrm>
            <a:off x="1603060" y="5522086"/>
            <a:ext cx="9132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Layer 4</a:t>
            </a:r>
          </a:p>
        </p:txBody>
      </p:sp>
      <p:sp>
        <p:nvSpPr>
          <p:cNvPr id="21" name="Frame 20">
            <a:extLst>
              <a:ext uri="{FF2B5EF4-FFF2-40B4-BE49-F238E27FC236}">
                <a16:creationId xmlns:a16="http://schemas.microsoft.com/office/drawing/2014/main" id="{DBF72A64-BD22-FE11-A53F-B8436CC6E8EE}"/>
              </a:ext>
            </a:extLst>
          </p:cNvPr>
          <p:cNvSpPr/>
          <p:nvPr/>
        </p:nvSpPr>
        <p:spPr>
          <a:xfrm>
            <a:off x="1594756" y="5181598"/>
            <a:ext cx="2117270" cy="307522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0872CB8-D005-9F9D-C1E8-3B3CC54B1374}"/>
              </a:ext>
            </a:extLst>
          </p:cNvPr>
          <p:cNvCxnSpPr/>
          <p:nvPr/>
        </p:nvCxnSpPr>
        <p:spPr>
          <a:xfrm flipH="1" flipV="1">
            <a:off x="5885973" y="5603168"/>
            <a:ext cx="405295" cy="282412"/>
          </a:xfrm>
          <a:prstGeom prst="straightConnector1">
            <a:avLst/>
          </a:prstGeom>
          <a:ln>
            <a:solidFill>
              <a:srgbClr val="83E7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CB321B-8875-E8B8-9284-8301C3F8BAF3}"/>
              </a:ext>
            </a:extLst>
          </p:cNvPr>
          <p:cNvCxnSpPr>
            <a:cxnSpLocks/>
          </p:cNvCxnSpPr>
          <p:nvPr/>
        </p:nvCxnSpPr>
        <p:spPr>
          <a:xfrm flipV="1">
            <a:off x="6465439" y="5603170"/>
            <a:ext cx="258732" cy="206210"/>
          </a:xfrm>
          <a:prstGeom prst="straightConnector1">
            <a:avLst/>
          </a:prstGeom>
          <a:ln>
            <a:solidFill>
              <a:srgbClr val="83E7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CF491E6-2138-4B6A-AB12-4F2C81ABEAB8}"/>
              </a:ext>
            </a:extLst>
          </p:cNvPr>
          <p:cNvCxnSpPr>
            <a:cxnSpLocks/>
          </p:cNvCxnSpPr>
          <p:nvPr/>
        </p:nvCxnSpPr>
        <p:spPr>
          <a:xfrm flipV="1">
            <a:off x="6378355" y="3338940"/>
            <a:ext cx="334932" cy="2470440"/>
          </a:xfrm>
          <a:prstGeom prst="straightConnector1">
            <a:avLst/>
          </a:prstGeom>
          <a:ln>
            <a:solidFill>
              <a:srgbClr val="83E7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A082D10-6425-1D31-5C21-7622562D48A8}"/>
              </a:ext>
            </a:extLst>
          </p:cNvPr>
          <p:cNvCxnSpPr>
            <a:cxnSpLocks/>
          </p:cNvCxnSpPr>
          <p:nvPr/>
        </p:nvCxnSpPr>
        <p:spPr>
          <a:xfrm flipV="1">
            <a:off x="6694040" y="5309254"/>
            <a:ext cx="922760" cy="587210"/>
          </a:xfrm>
          <a:prstGeom prst="straightConnector1">
            <a:avLst/>
          </a:prstGeom>
          <a:ln>
            <a:solidFill>
              <a:srgbClr val="83E7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F19781B-36EC-871F-5B6B-BFB408E76834}"/>
              </a:ext>
            </a:extLst>
          </p:cNvPr>
          <p:cNvCxnSpPr>
            <a:cxnSpLocks/>
          </p:cNvCxnSpPr>
          <p:nvPr/>
        </p:nvCxnSpPr>
        <p:spPr>
          <a:xfrm flipV="1">
            <a:off x="6781126" y="5254827"/>
            <a:ext cx="1260216" cy="598094"/>
          </a:xfrm>
          <a:prstGeom prst="straightConnector1">
            <a:avLst/>
          </a:prstGeom>
          <a:ln>
            <a:solidFill>
              <a:srgbClr val="83E7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38E28E3-2234-7C7A-A181-66CBA1A02E55}"/>
              </a:ext>
            </a:extLst>
          </p:cNvPr>
          <p:cNvCxnSpPr>
            <a:cxnSpLocks/>
          </p:cNvCxnSpPr>
          <p:nvPr/>
        </p:nvCxnSpPr>
        <p:spPr>
          <a:xfrm flipV="1">
            <a:off x="7325411" y="5037111"/>
            <a:ext cx="1260218" cy="881125"/>
          </a:xfrm>
          <a:prstGeom prst="straightConnector1">
            <a:avLst/>
          </a:prstGeom>
          <a:ln>
            <a:solidFill>
              <a:srgbClr val="83E7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F3B6A4E-B3FD-56E3-A91D-6DCE57B9D980}"/>
              </a:ext>
            </a:extLst>
          </p:cNvPr>
          <p:cNvCxnSpPr>
            <a:cxnSpLocks/>
          </p:cNvCxnSpPr>
          <p:nvPr/>
        </p:nvCxnSpPr>
        <p:spPr>
          <a:xfrm flipV="1">
            <a:off x="10340753" y="5058882"/>
            <a:ext cx="95447" cy="511011"/>
          </a:xfrm>
          <a:prstGeom prst="straightConnector1">
            <a:avLst/>
          </a:prstGeom>
          <a:ln>
            <a:solidFill>
              <a:srgbClr val="83E7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64F2C8B-F5E6-CDEA-C4E8-072CEE61D7A2}"/>
              </a:ext>
            </a:extLst>
          </p:cNvPr>
          <p:cNvCxnSpPr>
            <a:cxnSpLocks/>
          </p:cNvCxnSpPr>
          <p:nvPr/>
        </p:nvCxnSpPr>
        <p:spPr>
          <a:xfrm flipH="1" flipV="1">
            <a:off x="9663313" y="5189511"/>
            <a:ext cx="601239" cy="347725"/>
          </a:xfrm>
          <a:prstGeom prst="straightConnector1">
            <a:avLst/>
          </a:prstGeom>
          <a:ln>
            <a:solidFill>
              <a:srgbClr val="83E7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021573F-657E-5130-D756-F508BB0BB6E5}"/>
              </a:ext>
            </a:extLst>
          </p:cNvPr>
          <p:cNvCxnSpPr>
            <a:cxnSpLocks/>
          </p:cNvCxnSpPr>
          <p:nvPr/>
        </p:nvCxnSpPr>
        <p:spPr>
          <a:xfrm flipH="1">
            <a:off x="9293202" y="5656980"/>
            <a:ext cx="960467" cy="490475"/>
          </a:xfrm>
          <a:prstGeom prst="straightConnector1">
            <a:avLst/>
          </a:prstGeom>
          <a:ln>
            <a:solidFill>
              <a:srgbClr val="83E7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0915D61-DE37-4D48-F4D6-50C0C2CD51FC}"/>
              </a:ext>
            </a:extLst>
          </p:cNvPr>
          <p:cNvSpPr txBox="1"/>
          <p:nvPr/>
        </p:nvSpPr>
        <p:spPr>
          <a:xfrm>
            <a:off x="10286888" y="5652042"/>
            <a:ext cx="9601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Vias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9FE9BB-0833-9792-EB97-2CD22F613073}"/>
              </a:ext>
            </a:extLst>
          </p:cNvPr>
          <p:cNvSpPr txBox="1"/>
          <p:nvPr/>
        </p:nvSpPr>
        <p:spPr>
          <a:xfrm>
            <a:off x="6182974" y="5760899"/>
            <a:ext cx="9601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Vias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DD51ED2-7C1B-FEE0-5B1E-914A10C1E757}"/>
              </a:ext>
            </a:extLst>
          </p:cNvPr>
          <p:cNvCxnSpPr/>
          <p:nvPr/>
        </p:nvCxnSpPr>
        <p:spPr>
          <a:xfrm flipH="1" flipV="1">
            <a:off x="6696958" y="5881933"/>
            <a:ext cx="618634" cy="29458"/>
          </a:xfrm>
          <a:prstGeom prst="straightConnector1">
            <a:avLst/>
          </a:prstGeom>
          <a:ln>
            <a:solidFill>
              <a:srgbClr val="83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952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C7D2E-688B-A899-117B-5F1177CB0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64F67-1DF5-AC01-5657-03C9EFDBD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PCB Design - Final</a:t>
            </a:r>
          </a:p>
        </p:txBody>
      </p:sp>
      <p:pic>
        <p:nvPicPr>
          <p:cNvPr id="3" name="Picture 2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23297937-4117-559D-3430-9B2CE4BA7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23" y="1528277"/>
            <a:ext cx="10809515" cy="495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339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B37B-FB0D-ED88-EFBD-A9083FDF8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is this circuit suitable for a bluetooth low energy </a:t>
            </a:r>
            <a:r>
              <a:rPr lang="en-US" err="1"/>
              <a:t>reciever</a:t>
            </a:r>
            <a:r>
              <a:rPr lang="en-US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B3FFF-70BF-88EA-326F-C538EFD4E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5926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Single transistor requires low voltage (V = 3.3V)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Low power because P = IV</a:t>
            </a:r>
            <a:endParaRPr lang="en-US"/>
          </a:p>
          <a:p>
            <a:r>
              <a:rPr lang="en-US"/>
              <a:t>Passive diode mixer requires little to no DC power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unlike active gilbert cell mixer</a:t>
            </a:r>
            <a:endParaRPr lang="en-US" sz="2800"/>
          </a:p>
          <a:p>
            <a:r>
              <a:rPr lang="en-US"/>
              <a:t>Tuning from LC sections increases gain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Without increase in current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Again, low power because P = IV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B58E91A5-64B1-A182-8EC2-2D5B61161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142" y="1238867"/>
            <a:ext cx="4350589" cy="2461539"/>
          </a:xfrm>
          <a:prstGeom prst="rect">
            <a:avLst/>
          </a:prstGeom>
        </p:spPr>
      </p:pic>
      <p:pic>
        <p:nvPicPr>
          <p:cNvPr id="7" name="Picture 6" descr="A diagram of a circuit&#10;&#10;AI-generated content may be incorrect.">
            <a:extLst>
              <a:ext uri="{FF2B5EF4-FFF2-40B4-BE49-F238E27FC236}">
                <a16:creationId xmlns:a16="http://schemas.microsoft.com/office/drawing/2014/main" id="{C62B7507-6D3C-6053-83B6-F6D56EFD1A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23" r="63433"/>
          <a:stretch>
            <a:fillRect/>
          </a:stretch>
        </p:blipFill>
        <p:spPr>
          <a:xfrm>
            <a:off x="8866950" y="4007300"/>
            <a:ext cx="1060773" cy="24661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3CF2B00-5E6B-B0F6-47FE-2F9C82F58EBA}"/>
              </a:ext>
            </a:extLst>
          </p:cNvPr>
          <p:cNvSpPr/>
          <p:nvPr/>
        </p:nvSpPr>
        <p:spPr>
          <a:xfrm>
            <a:off x="9136481" y="1422036"/>
            <a:ext cx="778216" cy="407296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FDE5A2-2284-D3A1-2016-C7BCF70EC476}"/>
              </a:ext>
            </a:extLst>
          </p:cNvPr>
          <p:cNvSpPr/>
          <p:nvPr/>
        </p:nvSpPr>
        <p:spPr>
          <a:xfrm>
            <a:off x="1171424" y="2169658"/>
            <a:ext cx="1497083" cy="464805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98625F-DCA1-D0B2-5851-6BF63A19992A}"/>
              </a:ext>
            </a:extLst>
          </p:cNvPr>
          <p:cNvSpPr/>
          <p:nvPr/>
        </p:nvSpPr>
        <p:spPr>
          <a:xfrm>
            <a:off x="1004579" y="3096752"/>
            <a:ext cx="3225713" cy="327278"/>
          </a:xfrm>
          <a:prstGeom prst="rect">
            <a:avLst/>
          </a:prstGeom>
          <a:solidFill>
            <a:srgbClr val="E87FF9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F8F685-AE61-D493-7B54-0376C2DDEEEB}"/>
              </a:ext>
            </a:extLst>
          </p:cNvPr>
          <p:cNvSpPr/>
          <p:nvPr/>
        </p:nvSpPr>
        <p:spPr>
          <a:xfrm>
            <a:off x="8868994" y="4318828"/>
            <a:ext cx="1069110" cy="916749"/>
          </a:xfrm>
          <a:prstGeom prst="rect">
            <a:avLst/>
          </a:prstGeom>
          <a:solidFill>
            <a:srgbClr val="E87FF9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85EBAB-859E-C417-44EE-31A92845A31C}"/>
              </a:ext>
            </a:extLst>
          </p:cNvPr>
          <p:cNvSpPr/>
          <p:nvPr/>
        </p:nvSpPr>
        <p:spPr>
          <a:xfrm>
            <a:off x="3046876" y="4312160"/>
            <a:ext cx="1864600" cy="459233"/>
          </a:xfrm>
          <a:prstGeom prst="rect">
            <a:avLst/>
          </a:prstGeom>
          <a:solidFill>
            <a:srgbClr val="F3BF8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6CD900-336D-2212-4939-2CE13D359956}"/>
              </a:ext>
            </a:extLst>
          </p:cNvPr>
          <p:cNvSpPr/>
          <p:nvPr/>
        </p:nvSpPr>
        <p:spPr>
          <a:xfrm>
            <a:off x="10422460" y="1824877"/>
            <a:ext cx="1490789" cy="804290"/>
          </a:xfrm>
          <a:prstGeom prst="rect">
            <a:avLst/>
          </a:prstGeom>
          <a:solidFill>
            <a:srgbClr val="F3BF8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5AA0A6-3E15-EE3A-6ACC-5FBABF4F77ED}"/>
              </a:ext>
            </a:extLst>
          </p:cNvPr>
          <p:cNvSpPr/>
          <p:nvPr/>
        </p:nvSpPr>
        <p:spPr>
          <a:xfrm>
            <a:off x="7555614" y="2020409"/>
            <a:ext cx="1116978" cy="761158"/>
          </a:xfrm>
          <a:prstGeom prst="rect">
            <a:avLst/>
          </a:prstGeom>
          <a:solidFill>
            <a:srgbClr val="F3BF8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218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9E21-DA47-6C27-1D5A-A751AF29A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0933"/>
          </a:xfrm>
        </p:spPr>
        <p:txBody>
          <a:bodyPr>
            <a:normAutofit fontScale="90000"/>
          </a:bodyPr>
          <a:lstStyle/>
          <a:p>
            <a:r>
              <a:rPr lang="en-US" b="1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76899-F6D8-A490-736C-24F95B3C2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4502"/>
            <a:ext cx="10390341" cy="17749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/>
              <a:t>Finally, we can have a low frequency (low energy) from LPF to IF Baseband output.</a:t>
            </a:r>
          </a:p>
          <a:p>
            <a:r>
              <a:rPr lang="en-US" sz="1800"/>
              <a:t>The IF Baseband Output itself can create the </a:t>
            </a:r>
            <a:r>
              <a:rPr lang="en-US" sz="1800" err="1"/>
              <a:t>bluetooth</a:t>
            </a:r>
            <a:r>
              <a:rPr lang="en-US" sz="1800"/>
              <a:t> low frequency at the receiver side.</a:t>
            </a:r>
          </a:p>
          <a:p>
            <a:endParaRPr lang="en-US" sz="1800"/>
          </a:p>
          <a:p>
            <a:pPr marL="0" indent="0">
              <a:buNone/>
            </a:pPr>
            <a:endParaRPr lang="en-US"/>
          </a:p>
        </p:txBody>
      </p:sp>
      <p:pic>
        <p:nvPicPr>
          <p:cNvPr id="6" name="Picture 5" descr="A close-up of a home automation system&#10;&#10;AI-generated content may be incorrect.">
            <a:extLst>
              <a:ext uri="{FF2B5EF4-FFF2-40B4-BE49-F238E27FC236}">
                <a16:creationId xmlns:a16="http://schemas.microsoft.com/office/drawing/2014/main" id="{864BD261-1E74-67C2-2A1D-C2F6B79E4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508" y="3292258"/>
            <a:ext cx="9373121" cy="214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49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E8A4F-139F-4CD7-3204-AF9A9D9E7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                                     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DD760-C7FF-43C2-6B8F-A026D3752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/>
              <a:t>                                                     Any Clarifications?</a:t>
            </a:r>
          </a:p>
        </p:txBody>
      </p:sp>
    </p:spTree>
    <p:extLst>
      <p:ext uri="{BB962C8B-B14F-4D97-AF65-F5344CB8AC3E}">
        <p14:creationId xmlns:p14="http://schemas.microsoft.com/office/powerpoint/2010/main" val="454843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8F756978369447A26F7DFD71E6B55E" ma:contentTypeVersion="17" ma:contentTypeDescription="Create a new document." ma:contentTypeScope="" ma:versionID="cfb11cdeac3ad310a7d2fcf63a1bf40a">
  <xsd:schema xmlns:xsd="http://www.w3.org/2001/XMLSchema" xmlns:xs="http://www.w3.org/2001/XMLSchema" xmlns:p="http://schemas.microsoft.com/office/2006/metadata/properties" xmlns:ns3="54c9d2c3-2d73-4287-b0db-975f1ba97b27" xmlns:ns4="85ba227f-659b-48b2-aecc-e3e67fbb17a4" targetNamespace="http://schemas.microsoft.com/office/2006/metadata/properties" ma:root="true" ma:fieldsID="5af5b89836a66af728ce5dac49eacbc9" ns3:_="" ns4:_="">
    <xsd:import namespace="54c9d2c3-2d73-4287-b0db-975f1ba97b27"/>
    <xsd:import namespace="85ba227f-659b-48b2-aecc-e3e67fbb17a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c9d2c3-2d73-4287-b0db-975f1ba97b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ba227f-659b-48b2-aecc-e3e67fbb17a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4c9d2c3-2d73-4287-b0db-975f1ba97b27" xsi:nil="true"/>
  </documentManagement>
</p:properties>
</file>

<file path=customXml/itemProps1.xml><?xml version="1.0" encoding="utf-8"?>
<ds:datastoreItem xmlns:ds="http://schemas.openxmlformats.org/officeDocument/2006/customXml" ds:itemID="{C5C94413-FAD4-47A0-A3D2-BEFC4397C6B4}">
  <ds:schemaRefs>
    <ds:schemaRef ds:uri="54c9d2c3-2d73-4287-b0db-975f1ba97b27"/>
    <ds:schemaRef ds:uri="85ba227f-659b-48b2-aecc-e3e67fbb17a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9913957-FBF3-4E87-8D49-5283C8F233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9116A6-09B0-4F4C-85B1-1A8A4BBC6AB5}">
  <ds:schemaRefs>
    <ds:schemaRef ds:uri="54c9d2c3-2d73-4287-b0db-975f1ba97b27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Bluetooth Low Energy (BLE) Receiver Front End Design  Presented By Nichole Klipper Albertine Byemba-Kilongo Sai Anirudh Godavarthi Karthik Dorepally </vt:lpstr>
      <vt:lpstr>Basic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Circuit</vt:lpstr>
      <vt:lpstr>PCB Design</vt:lpstr>
      <vt:lpstr>PCB Design – Board Setup (Physical Stackup) </vt:lpstr>
      <vt:lpstr>PCB Design – PCB Calculations </vt:lpstr>
      <vt:lpstr>PCB Design – PCB Calculations </vt:lpstr>
      <vt:lpstr>PCB Design – Board Setup (Design Rules) </vt:lpstr>
      <vt:lpstr>PCB Design – Component Placement </vt:lpstr>
      <vt:lpstr>PCB Design – Vias </vt:lpstr>
      <vt:lpstr>PCB Design - Final</vt:lpstr>
      <vt:lpstr>Why is this circuit suitable for a bluetooth low energy reciever?</vt:lpstr>
      <vt:lpstr>Conclusion</vt:lpstr>
      <vt:lpstr>                                     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Bluetooth Low Energy (BLE) Receiver Front End Design  Presented By Nichole Klipper Albertine Byemba-Kilongo Sai Anirudh Godavarthi Karthik Dorepally </dc:title>
  <dc:creator>Klipper, Nichole (UMKC-Student)</dc:creator>
  <cp:revision>2</cp:revision>
  <dcterms:created xsi:type="dcterms:W3CDTF">2026-05-11T13:25:08Z</dcterms:created>
  <dcterms:modified xsi:type="dcterms:W3CDTF">2026-05-25T00:43:56Z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0x010100478F756978369447A26F7DFD71E6B55E</vt:lpwstr>
  </property>
</Properties>
</file>